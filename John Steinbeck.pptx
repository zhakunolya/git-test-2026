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Poppins" charset="1" panose="00000500000000000000"/>
      <p:regular r:id="rId15"/>
    </p:embeddedFont>
    <p:embeddedFont>
      <p:font typeface="League Spartan" charset="1" panose="000008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570154" y="-2291860"/>
            <a:ext cx="5625327" cy="3086100"/>
            <a:chOff x="0" y="0"/>
            <a:chExt cx="1481568" cy="812800"/>
          </a:xfrm>
        </p:grpSpPr>
        <p:sp>
          <p:nvSpPr>
            <p:cNvPr name="Freeform 4" id="4"/>
            <p:cNvSpPr/>
            <p:nvPr/>
          </p:nvSpPr>
          <p:spPr>
            <a:xfrm flipH="false" flipV="false" rot="0">
              <a:off x="0" y="0"/>
              <a:ext cx="1481568" cy="812800"/>
            </a:xfrm>
            <a:custGeom>
              <a:avLst/>
              <a:gdLst/>
              <a:ahLst/>
              <a:cxnLst/>
              <a:rect r="r" b="b" t="t" l="l"/>
              <a:pathLst>
                <a:path h="812800" w="1481568">
                  <a:moveTo>
                    <a:pt x="70189" y="0"/>
                  </a:moveTo>
                  <a:lnTo>
                    <a:pt x="1411378" y="0"/>
                  </a:lnTo>
                  <a:cubicBezTo>
                    <a:pt x="1429994" y="0"/>
                    <a:pt x="1447847" y="7395"/>
                    <a:pt x="1461010" y="20558"/>
                  </a:cubicBezTo>
                  <a:cubicBezTo>
                    <a:pt x="1474173" y="33721"/>
                    <a:pt x="1481568" y="51574"/>
                    <a:pt x="1481568" y="70189"/>
                  </a:cubicBezTo>
                  <a:lnTo>
                    <a:pt x="1481568" y="742611"/>
                  </a:lnTo>
                  <a:cubicBezTo>
                    <a:pt x="1481568" y="761226"/>
                    <a:pt x="1474173" y="779079"/>
                    <a:pt x="1461010" y="792242"/>
                  </a:cubicBezTo>
                  <a:cubicBezTo>
                    <a:pt x="1447847" y="805405"/>
                    <a:pt x="1429994" y="812800"/>
                    <a:pt x="1411378" y="812800"/>
                  </a:cubicBezTo>
                  <a:lnTo>
                    <a:pt x="70189" y="812800"/>
                  </a:lnTo>
                  <a:cubicBezTo>
                    <a:pt x="51574" y="812800"/>
                    <a:pt x="33721" y="805405"/>
                    <a:pt x="20558" y="792242"/>
                  </a:cubicBezTo>
                  <a:cubicBezTo>
                    <a:pt x="7395" y="779079"/>
                    <a:pt x="0" y="761226"/>
                    <a:pt x="0" y="742611"/>
                  </a:cubicBezTo>
                  <a:lnTo>
                    <a:pt x="0" y="70189"/>
                  </a:lnTo>
                  <a:cubicBezTo>
                    <a:pt x="0" y="51574"/>
                    <a:pt x="7395" y="33721"/>
                    <a:pt x="20558" y="20558"/>
                  </a:cubicBezTo>
                  <a:cubicBezTo>
                    <a:pt x="33721" y="7395"/>
                    <a:pt x="51574" y="0"/>
                    <a:pt x="70189" y="0"/>
                  </a:cubicBezTo>
                  <a:close/>
                </a:path>
              </a:pathLst>
            </a:custGeom>
            <a:gradFill rotWithShape="true">
              <a:gsLst>
                <a:gs pos="0">
                  <a:srgbClr val="000000">
                    <a:alpha val="100000"/>
                  </a:srgbClr>
                </a:gs>
                <a:gs pos="100000">
                  <a:srgbClr val="737373">
                    <a:alpha val="100000"/>
                  </a:srgbClr>
                </a:gs>
              </a:gsLst>
              <a:lin ang="0"/>
            </a:gradFill>
          </p:spPr>
        </p:sp>
        <p:sp>
          <p:nvSpPr>
            <p:cNvPr name="TextBox 5" id="5"/>
            <p:cNvSpPr txBox="true"/>
            <p:nvPr/>
          </p:nvSpPr>
          <p:spPr>
            <a:xfrm>
              <a:off x="0" y="-47625"/>
              <a:ext cx="1481568" cy="86042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570154" y="9722143"/>
            <a:ext cx="10443349" cy="1263065"/>
            <a:chOff x="0" y="0"/>
            <a:chExt cx="2750512" cy="332659"/>
          </a:xfrm>
        </p:grpSpPr>
        <p:sp>
          <p:nvSpPr>
            <p:cNvPr name="Freeform 7" id="7"/>
            <p:cNvSpPr/>
            <p:nvPr/>
          </p:nvSpPr>
          <p:spPr>
            <a:xfrm flipH="false" flipV="false" rot="0">
              <a:off x="0" y="0"/>
              <a:ext cx="2750512" cy="332659"/>
            </a:xfrm>
            <a:custGeom>
              <a:avLst/>
              <a:gdLst/>
              <a:ahLst/>
              <a:cxnLst/>
              <a:rect r="r" b="b" t="t" l="l"/>
              <a:pathLst>
                <a:path h="332659" w="2750512">
                  <a:moveTo>
                    <a:pt x="37808" y="0"/>
                  </a:moveTo>
                  <a:lnTo>
                    <a:pt x="2712704" y="0"/>
                  </a:lnTo>
                  <a:cubicBezTo>
                    <a:pt x="2733585" y="0"/>
                    <a:pt x="2750512" y="16927"/>
                    <a:pt x="2750512" y="37808"/>
                  </a:cubicBezTo>
                  <a:lnTo>
                    <a:pt x="2750512" y="294851"/>
                  </a:lnTo>
                  <a:cubicBezTo>
                    <a:pt x="2750512" y="315732"/>
                    <a:pt x="2733585" y="332659"/>
                    <a:pt x="2712704" y="332659"/>
                  </a:cubicBezTo>
                  <a:lnTo>
                    <a:pt x="37808" y="332659"/>
                  </a:lnTo>
                  <a:cubicBezTo>
                    <a:pt x="16927" y="332659"/>
                    <a:pt x="0" y="315732"/>
                    <a:pt x="0" y="294851"/>
                  </a:cubicBezTo>
                  <a:lnTo>
                    <a:pt x="0" y="37808"/>
                  </a:lnTo>
                  <a:cubicBezTo>
                    <a:pt x="0" y="16927"/>
                    <a:pt x="16927" y="0"/>
                    <a:pt x="37808" y="0"/>
                  </a:cubicBezTo>
                  <a:close/>
                </a:path>
              </a:pathLst>
            </a:custGeom>
            <a:gradFill rotWithShape="true">
              <a:gsLst>
                <a:gs pos="0">
                  <a:srgbClr val="000000">
                    <a:alpha val="100000"/>
                  </a:srgbClr>
                </a:gs>
                <a:gs pos="100000">
                  <a:srgbClr val="737373">
                    <a:alpha val="100000"/>
                  </a:srgbClr>
                </a:gs>
              </a:gsLst>
              <a:lin ang="0"/>
            </a:gradFill>
          </p:spPr>
        </p:sp>
        <p:sp>
          <p:nvSpPr>
            <p:cNvPr name="TextBox 8" id="8"/>
            <p:cNvSpPr txBox="true"/>
            <p:nvPr/>
          </p:nvSpPr>
          <p:spPr>
            <a:xfrm>
              <a:off x="0" y="-47625"/>
              <a:ext cx="2750512" cy="38028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1073834" y="-537275"/>
            <a:ext cx="7574367" cy="11361551"/>
            <a:chOff x="0" y="0"/>
            <a:chExt cx="6350000" cy="9525000"/>
          </a:xfrm>
        </p:grpSpPr>
        <p:sp>
          <p:nvSpPr>
            <p:cNvPr name="Freeform 10" id="10"/>
            <p:cNvSpPr/>
            <p:nvPr/>
          </p:nvSpPr>
          <p:spPr>
            <a:xfrm flipH="false" flipV="false" rot="0">
              <a:off x="0" y="0"/>
              <a:ext cx="6350000" cy="9525000"/>
            </a:xfrm>
            <a:custGeom>
              <a:avLst/>
              <a:gdLst/>
              <a:ahLst/>
              <a:cxnLst/>
              <a:rect r="r" b="b" t="t" l="l"/>
              <a:pathLst>
                <a:path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3"/>
              <a:stretch>
                <a:fillRect l="-30040" t="0" r="-13794" b="0"/>
              </a:stretch>
            </a:blipFill>
          </p:spPr>
        </p:sp>
      </p:grpSp>
      <p:sp>
        <p:nvSpPr>
          <p:cNvPr name="TextBox 11" id="11"/>
          <p:cNvSpPr txBox="true"/>
          <p:nvPr/>
        </p:nvSpPr>
        <p:spPr>
          <a:xfrm rot="0">
            <a:off x="1028700" y="3612757"/>
            <a:ext cx="5395219" cy="793896"/>
          </a:xfrm>
          <a:prstGeom prst="rect">
            <a:avLst/>
          </a:prstGeom>
        </p:spPr>
        <p:txBody>
          <a:bodyPr anchor="t" rtlCol="false" tIns="0" lIns="0" bIns="0" rIns="0">
            <a:spAutoFit/>
          </a:bodyPr>
          <a:lstStyle/>
          <a:p>
            <a:pPr algn="l">
              <a:lnSpc>
                <a:spcPts val="6116"/>
              </a:lnSpc>
              <a:spcBef>
                <a:spcPct val="0"/>
              </a:spcBef>
            </a:pPr>
            <a:r>
              <a:rPr lang="en-US" sz="4369">
                <a:solidFill>
                  <a:srgbClr val="000000"/>
                </a:solidFill>
                <a:latin typeface="Poppins"/>
                <a:ea typeface="Poppins"/>
                <a:cs typeface="Poppins"/>
                <a:sym typeface="Poppins"/>
              </a:rPr>
              <a:t>BIOGRAPHY</a:t>
            </a:r>
          </a:p>
        </p:txBody>
      </p:sp>
      <p:sp>
        <p:nvSpPr>
          <p:cNvPr name="TextBox 12" id="12"/>
          <p:cNvSpPr txBox="true"/>
          <p:nvPr/>
        </p:nvSpPr>
        <p:spPr>
          <a:xfrm rot="0">
            <a:off x="1028700" y="4343616"/>
            <a:ext cx="8115300" cy="1125131"/>
          </a:xfrm>
          <a:prstGeom prst="rect">
            <a:avLst/>
          </a:prstGeom>
        </p:spPr>
        <p:txBody>
          <a:bodyPr anchor="t" rtlCol="false" tIns="0" lIns="0" bIns="0" rIns="0">
            <a:spAutoFit/>
          </a:bodyPr>
          <a:lstStyle/>
          <a:p>
            <a:pPr algn="l">
              <a:lnSpc>
                <a:spcPts val="9200"/>
              </a:lnSpc>
              <a:spcBef>
                <a:spcPct val="0"/>
              </a:spcBef>
            </a:pPr>
            <a:r>
              <a:rPr lang="en-US" b="true" sz="6571">
                <a:solidFill>
                  <a:srgbClr val="000000"/>
                </a:solidFill>
                <a:latin typeface="League Spartan"/>
                <a:ea typeface="League Spartan"/>
                <a:cs typeface="League Spartan"/>
                <a:sym typeface="League Spartan"/>
              </a:rPr>
              <a:t>JOHN STEINBECK</a:t>
            </a:r>
          </a:p>
        </p:txBody>
      </p:sp>
      <p:sp>
        <p:nvSpPr>
          <p:cNvPr name="TextBox 13" id="13"/>
          <p:cNvSpPr txBox="true"/>
          <p:nvPr/>
        </p:nvSpPr>
        <p:spPr>
          <a:xfrm rot="0">
            <a:off x="1028700" y="5444987"/>
            <a:ext cx="6758574" cy="1095905"/>
          </a:xfrm>
          <a:prstGeom prst="rect">
            <a:avLst/>
          </a:prstGeom>
        </p:spPr>
        <p:txBody>
          <a:bodyPr anchor="t" rtlCol="false" tIns="0" lIns="0" bIns="0" rIns="0">
            <a:spAutoFit/>
          </a:bodyPr>
          <a:lstStyle/>
          <a:p>
            <a:pPr algn="l">
              <a:lnSpc>
                <a:spcPts val="2914"/>
              </a:lnSpc>
              <a:spcBef>
                <a:spcPct val="0"/>
              </a:spcBef>
            </a:pPr>
            <a:r>
              <a:rPr lang="en-US" sz="2081">
                <a:solidFill>
                  <a:srgbClr val="000000"/>
                </a:solidFill>
                <a:latin typeface="Poppins"/>
                <a:ea typeface="Poppins"/>
                <a:cs typeface="Poppins"/>
                <a:sym typeface="Poppins"/>
              </a:rPr>
              <a:t>A well-known American writer, whose famous novels gained worldwide popularity and recognition."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570154" y="9722143"/>
            <a:ext cx="8262217" cy="1263065"/>
            <a:chOff x="0" y="0"/>
            <a:chExt cx="2176057" cy="332659"/>
          </a:xfrm>
        </p:grpSpPr>
        <p:sp>
          <p:nvSpPr>
            <p:cNvPr name="Freeform 4" id="4"/>
            <p:cNvSpPr/>
            <p:nvPr/>
          </p:nvSpPr>
          <p:spPr>
            <a:xfrm flipH="false" flipV="false" rot="0">
              <a:off x="0" y="0"/>
              <a:ext cx="2176057" cy="332659"/>
            </a:xfrm>
            <a:custGeom>
              <a:avLst/>
              <a:gdLst/>
              <a:ahLst/>
              <a:cxnLst/>
              <a:rect r="r" b="b" t="t" l="l"/>
              <a:pathLst>
                <a:path h="332659" w="2176057">
                  <a:moveTo>
                    <a:pt x="47788" y="0"/>
                  </a:moveTo>
                  <a:lnTo>
                    <a:pt x="2128269" y="0"/>
                  </a:lnTo>
                  <a:cubicBezTo>
                    <a:pt x="2154662" y="0"/>
                    <a:pt x="2176057" y="21396"/>
                    <a:pt x="2176057" y="47788"/>
                  </a:cubicBezTo>
                  <a:lnTo>
                    <a:pt x="2176057" y="284871"/>
                  </a:lnTo>
                  <a:cubicBezTo>
                    <a:pt x="2176057" y="311263"/>
                    <a:pt x="2154662" y="332659"/>
                    <a:pt x="2128269" y="332659"/>
                  </a:cubicBezTo>
                  <a:lnTo>
                    <a:pt x="47788" y="332659"/>
                  </a:lnTo>
                  <a:cubicBezTo>
                    <a:pt x="21396" y="332659"/>
                    <a:pt x="0" y="311263"/>
                    <a:pt x="0" y="284871"/>
                  </a:cubicBezTo>
                  <a:lnTo>
                    <a:pt x="0" y="47788"/>
                  </a:lnTo>
                  <a:cubicBezTo>
                    <a:pt x="0" y="21396"/>
                    <a:pt x="21396" y="0"/>
                    <a:pt x="47788" y="0"/>
                  </a:cubicBezTo>
                  <a:close/>
                </a:path>
              </a:pathLst>
            </a:custGeom>
            <a:gradFill rotWithShape="true">
              <a:gsLst>
                <a:gs pos="0">
                  <a:srgbClr val="000000">
                    <a:alpha val="100000"/>
                  </a:srgbClr>
                </a:gs>
                <a:gs pos="100000">
                  <a:srgbClr val="737373">
                    <a:alpha val="100000"/>
                  </a:srgbClr>
                </a:gs>
              </a:gsLst>
              <a:lin ang="0"/>
            </a:gradFill>
          </p:spPr>
        </p:sp>
        <p:sp>
          <p:nvSpPr>
            <p:cNvPr name="TextBox 5" id="5"/>
            <p:cNvSpPr txBox="true"/>
            <p:nvPr/>
          </p:nvSpPr>
          <p:spPr>
            <a:xfrm>
              <a:off x="0" y="-47625"/>
              <a:ext cx="2176057" cy="380284"/>
            </a:xfrm>
            <a:prstGeom prst="rect">
              <a:avLst/>
            </a:prstGeom>
          </p:spPr>
          <p:txBody>
            <a:bodyPr anchor="ctr" rtlCol="false" tIns="50800" lIns="50800" bIns="50800" rIns="50800"/>
            <a:lstStyle/>
            <a:p>
              <a:pPr algn="ctr">
                <a:lnSpc>
                  <a:spcPts val="2659"/>
                </a:lnSpc>
              </a:pPr>
            </a:p>
          </p:txBody>
        </p:sp>
      </p:grpSp>
      <p:grpSp>
        <p:nvGrpSpPr>
          <p:cNvPr name="Group 6" id="6"/>
          <p:cNvGrpSpPr>
            <a:grpSpLocks noChangeAspect="true"/>
          </p:cNvGrpSpPr>
          <p:nvPr/>
        </p:nvGrpSpPr>
        <p:grpSpPr>
          <a:xfrm rot="0">
            <a:off x="8863585" y="721095"/>
            <a:ext cx="6581706" cy="8844810"/>
            <a:chOff x="0" y="0"/>
            <a:chExt cx="3663950" cy="4923790"/>
          </a:xfrm>
        </p:grpSpPr>
        <p:sp>
          <p:nvSpPr>
            <p:cNvPr name="Freeform 7" id="7"/>
            <p:cNvSpPr/>
            <p:nvPr/>
          </p:nvSpPr>
          <p:spPr>
            <a:xfrm flipH="false" flipV="false" rot="0">
              <a:off x="31750" y="31750"/>
              <a:ext cx="3600450" cy="4859020"/>
            </a:xfrm>
            <a:custGeom>
              <a:avLst/>
              <a:gdLst/>
              <a:ahLst/>
              <a:cxnLst/>
              <a:rect r="r" b="b" t="t" l="l"/>
              <a:pathLst>
                <a:path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3"/>
              <a:stretch>
                <a:fillRect l="-3307" t="0" r="-3307" b="0"/>
              </a:stretch>
            </a:blipFill>
          </p:spPr>
        </p:sp>
        <p:sp>
          <p:nvSpPr>
            <p:cNvPr name="Freeform 8" id="8"/>
            <p:cNvSpPr/>
            <p:nvPr/>
          </p:nvSpPr>
          <p:spPr>
            <a:xfrm flipH="false" flipV="false" rot="0">
              <a:off x="0" y="0"/>
              <a:ext cx="3663950" cy="4923790"/>
            </a:xfrm>
            <a:custGeom>
              <a:avLst/>
              <a:gdLst/>
              <a:ahLst/>
              <a:cxnLst/>
              <a:rect r="r" b="b" t="t" l="l"/>
              <a:pathLst>
                <a:path h="4923790" w="3663950">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gradFill rotWithShape="true">
              <a:gsLst>
                <a:gs pos="0">
                  <a:srgbClr val="000000">
                    <a:alpha val="100000"/>
                  </a:srgbClr>
                </a:gs>
                <a:gs pos="100000">
                  <a:srgbClr val="737373">
                    <a:alpha val="100000"/>
                  </a:srgbClr>
                </a:gs>
              </a:gsLst>
              <a:lin ang="0"/>
            </a:gradFill>
          </p:spPr>
        </p:sp>
      </p:grpSp>
      <p:sp>
        <p:nvSpPr>
          <p:cNvPr name="TextBox 9" id="9"/>
          <p:cNvSpPr txBox="true"/>
          <p:nvPr/>
        </p:nvSpPr>
        <p:spPr>
          <a:xfrm rot="0">
            <a:off x="1028700" y="952500"/>
            <a:ext cx="3451544" cy="517012"/>
          </a:xfrm>
          <a:prstGeom prst="rect">
            <a:avLst/>
          </a:prstGeom>
        </p:spPr>
        <p:txBody>
          <a:bodyPr anchor="t" rtlCol="false" tIns="0" lIns="0" bIns="0" rIns="0">
            <a:spAutoFit/>
          </a:bodyPr>
          <a:lstStyle/>
          <a:p>
            <a:pPr algn="l">
              <a:lnSpc>
                <a:spcPts val="4053"/>
              </a:lnSpc>
              <a:spcBef>
                <a:spcPct val="0"/>
              </a:spcBef>
            </a:pPr>
            <a:r>
              <a:rPr lang="en-US" sz="2895">
                <a:solidFill>
                  <a:srgbClr val="000000"/>
                </a:solidFill>
                <a:latin typeface="Poppins"/>
                <a:ea typeface="Poppins"/>
                <a:cs typeface="Poppins"/>
                <a:sym typeface="Poppins"/>
              </a:rPr>
              <a:t>ABOUT </a:t>
            </a:r>
          </a:p>
        </p:txBody>
      </p:sp>
      <p:sp>
        <p:nvSpPr>
          <p:cNvPr name="TextBox 10" id="10"/>
          <p:cNvSpPr txBox="true"/>
          <p:nvPr/>
        </p:nvSpPr>
        <p:spPr>
          <a:xfrm rot="0">
            <a:off x="1028700" y="1471372"/>
            <a:ext cx="5191692" cy="738398"/>
          </a:xfrm>
          <a:prstGeom prst="rect">
            <a:avLst/>
          </a:prstGeom>
        </p:spPr>
        <p:txBody>
          <a:bodyPr anchor="t" rtlCol="false" tIns="0" lIns="0" bIns="0" rIns="0">
            <a:spAutoFit/>
          </a:bodyPr>
          <a:lstStyle/>
          <a:p>
            <a:pPr algn="l">
              <a:lnSpc>
                <a:spcPts val="6025"/>
              </a:lnSpc>
              <a:spcBef>
                <a:spcPct val="0"/>
              </a:spcBef>
            </a:pPr>
            <a:r>
              <a:rPr lang="en-US" sz="4304">
                <a:solidFill>
                  <a:srgbClr val="000000"/>
                </a:solidFill>
                <a:latin typeface="League Spartan"/>
                <a:ea typeface="League Spartan"/>
                <a:cs typeface="League Spartan"/>
                <a:sym typeface="League Spartan"/>
              </a:rPr>
              <a:t>LIFE</a:t>
            </a:r>
          </a:p>
        </p:txBody>
      </p:sp>
      <p:sp>
        <p:nvSpPr>
          <p:cNvPr name="TextBox 11" id="11"/>
          <p:cNvSpPr txBox="true"/>
          <p:nvPr/>
        </p:nvSpPr>
        <p:spPr>
          <a:xfrm rot="0">
            <a:off x="1491779" y="2702057"/>
            <a:ext cx="6426351" cy="5739917"/>
          </a:xfrm>
          <a:prstGeom prst="rect">
            <a:avLst/>
          </a:prstGeom>
        </p:spPr>
        <p:txBody>
          <a:bodyPr anchor="t" rtlCol="false" tIns="0" lIns="0" bIns="0" rIns="0">
            <a:spAutoFit/>
          </a:bodyPr>
          <a:lstStyle/>
          <a:p>
            <a:pPr algn="l">
              <a:lnSpc>
                <a:spcPts val="2476"/>
              </a:lnSpc>
            </a:pPr>
            <a:r>
              <a:rPr lang="en-US" sz="1769">
                <a:solidFill>
                  <a:srgbClr val="000000"/>
                </a:solidFill>
                <a:latin typeface="Poppins"/>
                <a:ea typeface="Poppins"/>
                <a:cs typeface="Poppins"/>
                <a:sym typeface="Poppins"/>
              </a:rPr>
              <a:t>John Steinbeck was born on February 27, 1902, in Salinas, California. As a child, he lived in the Salinas Valley. In the summer, he worked on ranches, where he saw the hard life of migrant workers. This experience helped him write realistic stories later.</a:t>
            </a:r>
          </a:p>
          <a:p>
            <a:pPr algn="l">
              <a:lnSpc>
                <a:spcPts val="2476"/>
              </a:lnSpc>
            </a:pPr>
            <a:r>
              <a:rPr lang="en-US" sz="1769">
                <a:solidFill>
                  <a:srgbClr val="000000"/>
                </a:solidFill>
                <a:latin typeface="Poppins"/>
                <a:ea typeface="Poppins"/>
                <a:cs typeface="Poppins"/>
                <a:sym typeface="Poppins"/>
              </a:rPr>
              <a:t>In 1919, he finished school and went to Stanford University, but he did not finish his studies. He later moved to New York to become a writer, but his first book, Cup of Gold (1929), was not successful.</a:t>
            </a:r>
          </a:p>
          <a:p>
            <a:pPr algn="l">
              <a:lnSpc>
                <a:spcPts val="2476"/>
              </a:lnSpc>
            </a:pPr>
            <a:r>
              <a:rPr lang="en-US" sz="1769">
                <a:solidFill>
                  <a:srgbClr val="000000"/>
                </a:solidFill>
                <a:latin typeface="Poppins"/>
                <a:ea typeface="Poppins"/>
                <a:cs typeface="Poppins"/>
                <a:sym typeface="Poppins"/>
              </a:rPr>
              <a:t>After that, he returned to California and worked as a watchman at a fish factory. Soon, he started writing full-time. His first success came in 1935 with the book Tortilla Flat.</a:t>
            </a:r>
          </a:p>
          <a:p>
            <a:pPr algn="l">
              <a:lnSpc>
                <a:spcPts val="2476"/>
              </a:lnSpc>
            </a:pPr>
            <a:r>
              <a:rPr lang="en-US" sz="1769">
                <a:solidFill>
                  <a:srgbClr val="000000"/>
                </a:solidFill>
                <a:latin typeface="Poppins"/>
                <a:ea typeface="Poppins"/>
                <a:cs typeface="Poppins"/>
                <a:sym typeface="Poppins"/>
              </a:rPr>
              <a:t>In 1943, during World War II, he worked as a war reporter. In 1944, he was wounded in North Africa and came back home.</a:t>
            </a:r>
          </a:p>
          <a:p>
            <a:pPr algn="l">
              <a:lnSpc>
                <a:spcPts val="2476"/>
              </a:lnSpc>
            </a:pPr>
          </a:p>
          <a:p>
            <a:pPr algn="l">
              <a:lnSpc>
                <a:spcPts val="3176"/>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0" y="0"/>
            <a:ext cx="5853207" cy="10287000"/>
            <a:chOff x="0" y="0"/>
            <a:chExt cx="1541585" cy="2709333"/>
          </a:xfrm>
        </p:grpSpPr>
        <p:sp>
          <p:nvSpPr>
            <p:cNvPr name="Freeform 4" id="4"/>
            <p:cNvSpPr/>
            <p:nvPr/>
          </p:nvSpPr>
          <p:spPr>
            <a:xfrm flipH="false" flipV="false" rot="0">
              <a:off x="0" y="0"/>
              <a:ext cx="1541585" cy="2709333"/>
            </a:xfrm>
            <a:custGeom>
              <a:avLst/>
              <a:gdLst/>
              <a:ahLst/>
              <a:cxnLst/>
              <a:rect r="r" b="b" t="t" l="l"/>
              <a:pathLst>
                <a:path h="2709333" w="1541585">
                  <a:moveTo>
                    <a:pt x="0" y="0"/>
                  </a:moveTo>
                  <a:lnTo>
                    <a:pt x="1541585" y="0"/>
                  </a:lnTo>
                  <a:lnTo>
                    <a:pt x="1541585" y="2709333"/>
                  </a:lnTo>
                  <a:lnTo>
                    <a:pt x="0" y="2709333"/>
                  </a:lnTo>
                  <a:close/>
                </a:path>
              </a:pathLst>
            </a:custGeom>
            <a:gradFill rotWithShape="true">
              <a:gsLst>
                <a:gs pos="0">
                  <a:srgbClr val="000000">
                    <a:alpha val="100000"/>
                  </a:srgbClr>
                </a:gs>
                <a:gs pos="100000">
                  <a:srgbClr val="737373">
                    <a:alpha val="100000"/>
                  </a:srgbClr>
                </a:gs>
              </a:gsLst>
              <a:lin ang="0"/>
            </a:gradFill>
          </p:spPr>
        </p:sp>
        <p:sp>
          <p:nvSpPr>
            <p:cNvPr name="TextBox 5" id="5"/>
            <p:cNvSpPr txBox="true"/>
            <p:nvPr/>
          </p:nvSpPr>
          <p:spPr>
            <a:xfrm>
              <a:off x="0" y="-47625"/>
              <a:ext cx="1541585" cy="2756958"/>
            </a:xfrm>
            <a:prstGeom prst="rect">
              <a:avLst/>
            </a:prstGeom>
          </p:spPr>
          <p:txBody>
            <a:bodyPr anchor="ctr" rtlCol="false" tIns="50800" lIns="50800" bIns="50800" rIns="50800"/>
            <a:lstStyle/>
            <a:p>
              <a:pPr algn="ctr">
                <a:lnSpc>
                  <a:spcPts val="2659"/>
                </a:lnSpc>
              </a:pPr>
            </a:p>
          </p:txBody>
        </p:sp>
      </p:grpSp>
      <p:grpSp>
        <p:nvGrpSpPr>
          <p:cNvPr name="Group 6" id="6"/>
          <p:cNvGrpSpPr>
            <a:grpSpLocks noChangeAspect="true"/>
          </p:cNvGrpSpPr>
          <p:nvPr/>
        </p:nvGrpSpPr>
        <p:grpSpPr>
          <a:xfrm rot="0">
            <a:off x="1741250" y="1329967"/>
            <a:ext cx="5779439" cy="7766685"/>
            <a:chOff x="0" y="0"/>
            <a:chExt cx="3663950" cy="4923790"/>
          </a:xfrm>
        </p:grpSpPr>
        <p:sp>
          <p:nvSpPr>
            <p:cNvPr name="Freeform 7" id="7"/>
            <p:cNvSpPr/>
            <p:nvPr/>
          </p:nvSpPr>
          <p:spPr>
            <a:xfrm flipH="false" flipV="false" rot="0">
              <a:off x="31750" y="31750"/>
              <a:ext cx="3600450" cy="4859020"/>
            </a:xfrm>
            <a:custGeom>
              <a:avLst/>
              <a:gdLst/>
              <a:ahLst/>
              <a:cxnLst/>
              <a:rect r="r" b="b" t="t" l="l"/>
              <a:pathLst>
                <a:path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3"/>
              <a:stretch>
                <a:fillRect l="-1723" t="0" r="0" b="0"/>
              </a:stretch>
            </a:blipFill>
          </p:spPr>
        </p:sp>
        <p:sp>
          <p:nvSpPr>
            <p:cNvPr name="Freeform 8" id="8"/>
            <p:cNvSpPr/>
            <p:nvPr/>
          </p:nvSpPr>
          <p:spPr>
            <a:xfrm flipH="false" flipV="false" rot="0">
              <a:off x="0" y="0"/>
              <a:ext cx="3663950" cy="4923790"/>
            </a:xfrm>
            <a:custGeom>
              <a:avLst/>
              <a:gdLst/>
              <a:ahLst/>
              <a:cxnLst/>
              <a:rect r="r" b="b" t="t" l="l"/>
              <a:pathLst>
                <a:path h="4923790" w="3663950">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FFDE59"/>
            </a:solidFill>
          </p:spPr>
        </p:sp>
      </p:grpSp>
      <p:sp>
        <p:nvSpPr>
          <p:cNvPr name="TextBox 9" id="9"/>
          <p:cNvSpPr txBox="true"/>
          <p:nvPr/>
        </p:nvSpPr>
        <p:spPr>
          <a:xfrm rot="0">
            <a:off x="9902198" y="2485839"/>
            <a:ext cx="5191692" cy="1500398"/>
          </a:xfrm>
          <a:prstGeom prst="rect">
            <a:avLst/>
          </a:prstGeom>
        </p:spPr>
        <p:txBody>
          <a:bodyPr anchor="t" rtlCol="false" tIns="0" lIns="0" bIns="0" rIns="0">
            <a:spAutoFit/>
          </a:bodyPr>
          <a:lstStyle/>
          <a:p>
            <a:pPr algn="l">
              <a:lnSpc>
                <a:spcPts val="6025"/>
              </a:lnSpc>
              <a:spcBef>
                <a:spcPct val="0"/>
              </a:spcBef>
            </a:pPr>
            <a:r>
              <a:rPr lang="en-US" sz="4304">
                <a:solidFill>
                  <a:srgbClr val="000000"/>
                </a:solidFill>
                <a:latin typeface="League Spartan"/>
                <a:ea typeface="League Spartan"/>
                <a:cs typeface="League Spartan"/>
                <a:sym typeface="League Spartan"/>
              </a:rPr>
              <a:t>THEMES AND DEATH</a:t>
            </a:r>
          </a:p>
        </p:txBody>
      </p:sp>
      <p:sp>
        <p:nvSpPr>
          <p:cNvPr name="TextBox 10" id="10"/>
          <p:cNvSpPr txBox="true"/>
          <p:nvPr/>
        </p:nvSpPr>
        <p:spPr>
          <a:xfrm rot="0">
            <a:off x="9643710" y="4577115"/>
            <a:ext cx="7206471" cy="3133768"/>
          </a:xfrm>
          <a:prstGeom prst="rect">
            <a:avLst/>
          </a:prstGeom>
        </p:spPr>
        <p:txBody>
          <a:bodyPr anchor="t" rtlCol="false" tIns="0" lIns="0" bIns="0" rIns="0">
            <a:spAutoFit/>
          </a:bodyPr>
          <a:lstStyle/>
          <a:p>
            <a:pPr algn="l">
              <a:lnSpc>
                <a:spcPts val="3147"/>
              </a:lnSpc>
            </a:pPr>
            <a:r>
              <a:rPr lang="en-US" sz="2248">
                <a:solidFill>
                  <a:srgbClr val="000000"/>
                </a:solidFill>
                <a:latin typeface="Poppins"/>
                <a:ea typeface="Poppins"/>
                <a:cs typeface="Poppins"/>
                <a:sym typeface="Poppins"/>
              </a:rPr>
              <a:t>Steinbeck’s writing often talks about social problems, suffering, and moral questions. He showed people’s hopes and dreams, and his works are known for their deep humanism and realistic view of the world.</a:t>
            </a:r>
          </a:p>
          <a:p>
            <a:pPr algn="l">
              <a:lnSpc>
                <a:spcPts val="3147"/>
              </a:lnSpc>
            </a:pPr>
            <a:r>
              <a:rPr lang="en-US" sz="2248">
                <a:solidFill>
                  <a:srgbClr val="000000"/>
                </a:solidFill>
                <a:latin typeface="Poppins"/>
                <a:ea typeface="Poppins"/>
                <a:cs typeface="Poppins"/>
                <a:sym typeface="Poppins"/>
              </a:rPr>
              <a:t>The writer’s life ended on December 20, 1968, at the age of 66.</a:t>
            </a:r>
          </a:p>
          <a:p>
            <a:pPr algn="l">
              <a:lnSpc>
                <a:spcPts val="3147"/>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12500812" y="-4549"/>
            <a:ext cx="5853207" cy="10287000"/>
            <a:chOff x="0" y="0"/>
            <a:chExt cx="1541585" cy="2709333"/>
          </a:xfrm>
        </p:grpSpPr>
        <p:sp>
          <p:nvSpPr>
            <p:cNvPr name="Freeform 4" id="4"/>
            <p:cNvSpPr/>
            <p:nvPr/>
          </p:nvSpPr>
          <p:spPr>
            <a:xfrm flipH="false" flipV="false" rot="0">
              <a:off x="0" y="0"/>
              <a:ext cx="1541585" cy="2709333"/>
            </a:xfrm>
            <a:custGeom>
              <a:avLst/>
              <a:gdLst/>
              <a:ahLst/>
              <a:cxnLst/>
              <a:rect r="r" b="b" t="t" l="l"/>
              <a:pathLst>
                <a:path h="2709333" w="1541585">
                  <a:moveTo>
                    <a:pt x="0" y="0"/>
                  </a:moveTo>
                  <a:lnTo>
                    <a:pt x="1541585" y="0"/>
                  </a:lnTo>
                  <a:lnTo>
                    <a:pt x="1541585" y="2709333"/>
                  </a:lnTo>
                  <a:lnTo>
                    <a:pt x="0" y="2709333"/>
                  </a:lnTo>
                  <a:close/>
                </a:path>
              </a:pathLst>
            </a:custGeom>
            <a:gradFill rotWithShape="true">
              <a:gsLst>
                <a:gs pos="0">
                  <a:srgbClr val="000000">
                    <a:alpha val="100000"/>
                  </a:srgbClr>
                </a:gs>
                <a:gs pos="100000">
                  <a:srgbClr val="737373">
                    <a:alpha val="100000"/>
                  </a:srgbClr>
                </a:gs>
              </a:gsLst>
              <a:lin ang="0"/>
            </a:gradFill>
          </p:spPr>
        </p:sp>
        <p:sp>
          <p:nvSpPr>
            <p:cNvPr name="TextBox 5" id="5"/>
            <p:cNvSpPr txBox="true"/>
            <p:nvPr/>
          </p:nvSpPr>
          <p:spPr>
            <a:xfrm>
              <a:off x="0" y="-47625"/>
              <a:ext cx="1541585" cy="2756958"/>
            </a:xfrm>
            <a:prstGeom prst="rect">
              <a:avLst/>
            </a:prstGeom>
          </p:spPr>
          <p:txBody>
            <a:bodyPr anchor="ctr" rtlCol="false" tIns="50800" lIns="50800" bIns="50800" rIns="50800"/>
            <a:lstStyle/>
            <a:p>
              <a:pPr algn="ctr">
                <a:lnSpc>
                  <a:spcPts val="2659"/>
                </a:lnSpc>
              </a:pPr>
            </a:p>
          </p:txBody>
        </p:sp>
      </p:grpSp>
      <p:grpSp>
        <p:nvGrpSpPr>
          <p:cNvPr name="Group 6" id="6"/>
          <p:cNvGrpSpPr>
            <a:grpSpLocks noChangeAspect="true"/>
          </p:cNvGrpSpPr>
          <p:nvPr/>
        </p:nvGrpSpPr>
        <p:grpSpPr>
          <a:xfrm rot="0">
            <a:off x="10185997" y="1260157"/>
            <a:ext cx="5779439" cy="7766685"/>
            <a:chOff x="0" y="0"/>
            <a:chExt cx="3663950" cy="4923790"/>
          </a:xfrm>
        </p:grpSpPr>
        <p:sp>
          <p:nvSpPr>
            <p:cNvPr name="Freeform 7" id="7"/>
            <p:cNvSpPr/>
            <p:nvPr/>
          </p:nvSpPr>
          <p:spPr>
            <a:xfrm flipH="false" flipV="false" rot="0">
              <a:off x="31750" y="31750"/>
              <a:ext cx="3600450" cy="4859020"/>
            </a:xfrm>
            <a:custGeom>
              <a:avLst/>
              <a:gdLst/>
              <a:ahLst/>
              <a:cxnLst/>
              <a:rect r="r" b="b" t="t" l="l"/>
              <a:pathLst>
                <a:path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3"/>
              <a:stretch>
                <a:fillRect l="-608" t="0" r="-608" b="0"/>
              </a:stretch>
            </a:blipFill>
          </p:spPr>
        </p:sp>
        <p:sp>
          <p:nvSpPr>
            <p:cNvPr name="Freeform 8" id="8"/>
            <p:cNvSpPr/>
            <p:nvPr/>
          </p:nvSpPr>
          <p:spPr>
            <a:xfrm flipH="false" flipV="false" rot="0">
              <a:off x="0" y="0"/>
              <a:ext cx="3663950" cy="4923790"/>
            </a:xfrm>
            <a:custGeom>
              <a:avLst/>
              <a:gdLst/>
              <a:ahLst/>
              <a:cxnLst/>
              <a:rect r="r" b="b" t="t" l="l"/>
              <a:pathLst>
                <a:path h="4923790" w="3663950">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FFDE59"/>
            </a:solidFill>
          </p:spPr>
        </p:sp>
      </p:grpSp>
      <p:sp>
        <p:nvSpPr>
          <p:cNvPr name="TextBox 9" id="9"/>
          <p:cNvSpPr txBox="true"/>
          <p:nvPr/>
        </p:nvSpPr>
        <p:spPr>
          <a:xfrm rot="0">
            <a:off x="1028700" y="1935477"/>
            <a:ext cx="7748314" cy="6904532"/>
          </a:xfrm>
          <a:prstGeom prst="rect">
            <a:avLst/>
          </a:prstGeom>
        </p:spPr>
        <p:txBody>
          <a:bodyPr anchor="t" rtlCol="false" tIns="0" lIns="0" bIns="0" rIns="0">
            <a:spAutoFit/>
          </a:bodyPr>
          <a:lstStyle/>
          <a:p>
            <a:pPr algn="l">
              <a:lnSpc>
                <a:spcPts val="3977"/>
              </a:lnSpc>
            </a:pPr>
            <a:r>
              <a:rPr lang="en-US" sz="2840">
                <a:solidFill>
                  <a:srgbClr val="000000"/>
                </a:solidFill>
                <a:latin typeface="Poppins"/>
                <a:ea typeface="Poppins"/>
                <a:cs typeface="Poppins"/>
                <a:sym typeface="Poppins"/>
              </a:rPr>
              <a:t>During his writing career, John Steinbeck wrote 33 books, but the following novels and short stories became really popular:</a:t>
            </a:r>
          </a:p>
          <a:p>
            <a:pPr algn="l">
              <a:lnSpc>
                <a:spcPts val="3977"/>
              </a:lnSpc>
            </a:pPr>
          </a:p>
          <a:p>
            <a:pPr algn="l" marL="613353" indent="-306677" lvl="1">
              <a:lnSpc>
                <a:spcPts val="3977"/>
              </a:lnSpc>
              <a:buFont typeface="Arial"/>
              <a:buChar char="•"/>
            </a:pPr>
            <a:r>
              <a:rPr lang="en-US" sz="2840">
                <a:solidFill>
                  <a:srgbClr val="000000"/>
                </a:solidFill>
                <a:latin typeface="Poppins"/>
                <a:ea typeface="Poppins"/>
                <a:cs typeface="Poppins"/>
                <a:sym typeface="Poppins"/>
              </a:rPr>
              <a:t>The Red Pony (1933)</a:t>
            </a:r>
          </a:p>
          <a:p>
            <a:pPr algn="l">
              <a:lnSpc>
                <a:spcPts val="3977"/>
              </a:lnSpc>
            </a:pPr>
          </a:p>
          <a:p>
            <a:pPr algn="l" marL="613353" indent="-306677" lvl="1">
              <a:lnSpc>
                <a:spcPts val="3977"/>
              </a:lnSpc>
              <a:buFont typeface="Arial"/>
              <a:buChar char="•"/>
            </a:pPr>
            <a:r>
              <a:rPr lang="en-US" sz="2840">
                <a:solidFill>
                  <a:srgbClr val="000000"/>
                </a:solidFill>
                <a:latin typeface="Poppins"/>
                <a:ea typeface="Poppins"/>
                <a:cs typeface="Poppins"/>
                <a:sym typeface="Poppins"/>
              </a:rPr>
              <a:t>Of Mice and Men (1937)</a:t>
            </a:r>
          </a:p>
          <a:p>
            <a:pPr algn="l">
              <a:lnSpc>
                <a:spcPts val="3977"/>
              </a:lnSpc>
            </a:pPr>
          </a:p>
          <a:p>
            <a:pPr algn="l" marL="613353" indent="-306677" lvl="1">
              <a:lnSpc>
                <a:spcPts val="3977"/>
              </a:lnSpc>
              <a:buFont typeface="Arial"/>
              <a:buChar char="•"/>
            </a:pPr>
            <a:r>
              <a:rPr lang="en-US" sz="2840">
                <a:solidFill>
                  <a:srgbClr val="000000"/>
                </a:solidFill>
                <a:latin typeface="Poppins"/>
                <a:ea typeface="Poppins"/>
                <a:cs typeface="Poppins"/>
                <a:sym typeface="Poppins"/>
              </a:rPr>
              <a:t>Cannery Row (1945)</a:t>
            </a:r>
          </a:p>
          <a:p>
            <a:pPr algn="l">
              <a:lnSpc>
                <a:spcPts val="3977"/>
              </a:lnSpc>
            </a:pPr>
          </a:p>
          <a:p>
            <a:pPr algn="l" marL="613353" indent="-306677" lvl="1">
              <a:lnSpc>
                <a:spcPts val="3977"/>
              </a:lnSpc>
              <a:buFont typeface="Arial"/>
              <a:buChar char="•"/>
            </a:pPr>
            <a:r>
              <a:rPr lang="en-US" sz="2840">
                <a:solidFill>
                  <a:srgbClr val="000000"/>
                </a:solidFill>
                <a:latin typeface="Poppins"/>
                <a:ea typeface="Poppins"/>
                <a:cs typeface="Poppins"/>
                <a:sym typeface="Poppins"/>
              </a:rPr>
              <a:t>The Pearl (1947)</a:t>
            </a:r>
          </a:p>
          <a:p>
            <a:pPr algn="l">
              <a:lnSpc>
                <a:spcPts val="3977"/>
              </a:lnSpc>
            </a:pPr>
          </a:p>
          <a:p>
            <a:pPr algn="l" marL="613353" indent="-306677" lvl="1">
              <a:lnSpc>
                <a:spcPts val="3977"/>
              </a:lnSpc>
              <a:buFont typeface="Arial"/>
              <a:buChar char="•"/>
            </a:pPr>
            <a:r>
              <a:rPr lang="en-US" sz="2840">
                <a:solidFill>
                  <a:srgbClr val="000000"/>
                </a:solidFill>
                <a:latin typeface="Poppins"/>
                <a:ea typeface="Poppins"/>
                <a:cs typeface="Poppins"/>
                <a:sym typeface="Poppins"/>
              </a:rPr>
              <a:t>East of Eden (1952)</a:t>
            </a:r>
          </a:p>
          <a:p>
            <a:pPr algn="l">
              <a:lnSpc>
                <a:spcPts val="3977"/>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10521243" y="9655468"/>
            <a:ext cx="8262217" cy="1263065"/>
            <a:chOff x="0" y="0"/>
            <a:chExt cx="2176057" cy="332659"/>
          </a:xfrm>
        </p:grpSpPr>
        <p:sp>
          <p:nvSpPr>
            <p:cNvPr name="Freeform 4" id="4"/>
            <p:cNvSpPr/>
            <p:nvPr/>
          </p:nvSpPr>
          <p:spPr>
            <a:xfrm flipH="false" flipV="false" rot="0">
              <a:off x="0" y="0"/>
              <a:ext cx="2176057" cy="332659"/>
            </a:xfrm>
            <a:custGeom>
              <a:avLst/>
              <a:gdLst/>
              <a:ahLst/>
              <a:cxnLst/>
              <a:rect r="r" b="b" t="t" l="l"/>
              <a:pathLst>
                <a:path h="332659" w="2176057">
                  <a:moveTo>
                    <a:pt x="47788" y="0"/>
                  </a:moveTo>
                  <a:lnTo>
                    <a:pt x="2128269" y="0"/>
                  </a:lnTo>
                  <a:cubicBezTo>
                    <a:pt x="2154662" y="0"/>
                    <a:pt x="2176057" y="21396"/>
                    <a:pt x="2176057" y="47788"/>
                  </a:cubicBezTo>
                  <a:lnTo>
                    <a:pt x="2176057" y="284871"/>
                  </a:lnTo>
                  <a:cubicBezTo>
                    <a:pt x="2176057" y="311263"/>
                    <a:pt x="2154662" y="332659"/>
                    <a:pt x="2128269" y="332659"/>
                  </a:cubicBezTo>
                  <a:lnTo>
                    <a:pt x="47788" y="332659"/>
                  </a:lnTo>
                  <a:cubicBezTo>
                    <a:pt x="21396" y="332659"/>
                    <a:pt x="0" y="311263"/>
                    <a:pt x="0" y="284871"/>
                  </a:cubicBezTo>
                  <a:lnTo>
                    <a:pt x="0" y="47788"/>
                  </a:lnTo>
                  <a:cubicBezTo>
                    <a:pt x="0" y="21396"/>
                    <a:pt x="21396" y="0"/>
                    <a:pt x="47788" y="0"/>
                  </a:cubicBezTo>
                  <a:close/>
                </a:path>
              </a:pathLst>
            </a:custGeom>
            <a:gradFill rotWithShape="true">
              <a:gsLst>
                <a:gs pos="0">
                  <a:srgbClr val="000000">
                    <a:alpha val="100000"/>
                  </a:srgbClr>
                </a:gs>
                <a:gs pos="100000">
                  <a:srgbClr val="737373">
                    <a:alpha val="100000"/>
                  </a:srgbClr>
                </a:gs>
              </a:gsLst>
              <a:lin ang="0"/>
            </a:gradFill>
          </p:spPr>
        </p:sp>
        <p:sp>
          <p:nvSpPr>
            <p:cNvPr name="TextBox 5" id="5"/>
            <p:cNvSpPr txBox="true"/>
            <p:nvPr/>
          </p:nvSpPr>
          <p:spPr>
            <a:xfrm>
              <a:off x="0" y="-47625"/>
              <a:ext cx="2176057" cy="380284"/>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833013" y="729207"/>
            <a:ext cx="5822133" cy="8992935"/>
            <a:chOff x="0" y="0"/>
            <a:chExt cx="2192020" cy="3385820"/>
          </a:xfrm>
        </p:grpSpPr>
        <p:sp>
          <p:nvSpPr>
            <p:cNvPr name="Freeform 7" id="7"/>
            <p:cNvSpPr/>
            <p:nvPr/>
          </p:nvSpPr>
          <p:spPr>
            <a:xfrm flipH="false" flipV="false" rot="0">
              <a:off x="1270" y="0"/>
              <a:ext cx="2194560" cy="3388360"/>
            </a:xfrm>
            <a:custGeom>
              <a:avLst/>
              <a:gdLst/>
              <a:ahLst/>
              <a:cxnLst/>
              <a:rect r="r" b="b" t="t" l="l"/>
              <a:pathLst>
                <a:path h="3388360" w="2194560">
                  <a:moveTo>
                    <a:pt x="3810" y="317500"/>
                  </a:moveTo>
                  <a:cubicBezTo>
                    <a:pt x="13970" y="425450"/>
                    <a:pt x="16510" y="533400"/>
                    <a:pt x="17780" y="642620"/>
                  </a:cubicBezTo>
                  <a:cubicBezTo>
                    <a:pt x="24130" y="1036320"/>
                    <a:pt x="21590" y="1430020"/>
                    <a:pt x="17780" y="1823720"/>
                  </a:cubicBezTo>
                  <a:cubicBezTo>
                    <a:pt x="13970" y="2218690"/>
                    <a:pt x="8890" y="2613660"/>
                    <a:pt x="8890" y="3009900"/>
                  </a:cubicBezTo>
                  <a:cubicBezTo>
                    <a:pt x="8890" y="3013710"/>
                    <a:pt x="8890" y="3017520"/>
                    <a:pt x="7620" y="3021330"/>
                  </a:cubicBezTo>
                  <a:cubicBezTo>
                    <a:pt x="11430" y="3022600"/>
                    <a:pt x="15240" y="3025140"/>
                    <a:pt x="19050" y="3027680"/>
                  </a:cubicBezTo>
                  <a:cubicBezTo>
                    <a:pt x="24130" y="3031490"/>
                    <a:pt x="27940" y="3037840"/>
                    <a:pt x="33020" y="3044190"/>
                  </a:cubicBezTo>
                  <a:cubicBezTo>
                    <a:pt x="44450" y="3058160"/>
                    <a:pt x="55880" y="3072130"/>
                    <a:pt x="66040" y="3086100"/>
                  </a:cubicBezTo>
                  <a:cubicBezTo>
                    <a:pt x="77470" y="3102610"/>
                    <a:pt x="88900" y="3117850"/>
                    <a:pt x="100330" y="3134360"/>
                  </a:cubicBezTo>
                  <a:cubicBezTo>
                    <a:pt x="105410" y="3141980"/>
                    <a:pt x="110490" y="3149600"/>
                    <a:pt x="115570" y="3155950"/>
                  </a:cubicBezTo>
                  <a:cubicBezTo>
                    <a:pt x="119380" y="3161030"/>
                    <a:pt x="125730" y="3163570"/>
                    <a:pt x="129540" y="3167380"/>
                  </a:cubicBezTo>
                  <a:cubicBezTo>
                    <a:pt x="142240" y="3177540"/>
                    <a:pt x="156210" y="3187700"/>
                    <a:pt x="168910" y="3197860"/>
                  </a:cubicBezTo>
                  <a:cubicBezTo>
                    <a:pt x="181610" y="3208020"/>
                    <a:pt x="194310" y="3216910"/>
                    <a:pt x="209550" y="3223260"/>
                  </a:cubicBezTo>
                  <a:cubicBezTo>
                    <a:pt x="243840" y="3238500"/>
                    <a:pt x="276860" y="3255010"/>
                    <a:pt x="311150" y="3270250"/>
                  </a:cubicBezTo>
                  <a:cubicBezTo>
                    <a:pt x="330200" y="3279140"/>
                    <a:pt x="349250" y="3286760"/>
                    <a:pt x="369570" y="3295650"/>
                  </a:cubicBezTo>
                  <a:cubicBezTo>
                    <a:pt x="370840" y="3296920"/>
                    <a:pt x="374650" y="3295650"/>
                    <a:pt x="375920" y="3295650"/>
                  </a:cubicBezTo>
                  <a:lnTo>
                    <a:pt x="383540" y="3295650"/>
                  </a:lnTo>
                  <a:lnTo>
                    <a:pt x="384810" y="3296920"/>
                  </a:lnTo>
                  <a:cubicBezTo>
                    <a:pt x="387350" y="3290570"/>
                    <a:pt x="389890" y="3285490"/>
                    <a:pt x="393700" y="3279140"/>
                  </a:cubicBezTo>
                  <a:cubicBezTo>
                    <a:pt x="397510" y="3274060"/>
                    <a:pt x="400050" y="3265170"/>
                    <a:pt x="408940" y="3265170"/>
                  </a:cubicBezTo>
                  <a:cubicBezTo>
                    <a:pt x="408940" y="3265170"/>
                    <a:pt x="410210" y="3265170"/>
                    <a:pt x="410210" y="3263900"/>
                  </a:cubicBezTo>
                  <a:cubicBezTo>
                    <a:pt x="414020" y="3257550"/>
                    <a:pt x="420370" y="3256280"/>
                    <a:pt x="427990" y="3255010"/>
                  </a:cubicBezTo>
                  <a:cubicBezTo>
                    <a:pt x="435610" y="3253740"/>
                    <a:pt x="441960" y="3249930"/>
                    <a:pt x="448310" y="3247390"/>
                  </a:cubicBezTo>
                  <a:cubicBezTo>
                    <a:pt x="449580" y="3247390"/>
                    <a:pt x="449580" y="3246120"/>
                    <a:pt x="450850" y="3246120"/>
                  </a:cubicBezTo>
                  <a:cubicBezTo>
                    <a:pt x="459740" y="3248660"/>
                    <a:pt x="466090" y="3242310"/>
                    <a:pt x="473710" y="3239770"/>
                  </a:cubicBezTo>
                  <a:lnTo>
                    <a:pt x="474980" y="3239770"/>
                  </a:lnTo>
                  <a:cubicBezTo>
                    <a:pt x="482600" y="3239770"/>
                    <a:pt x="488950" y="3235960"/>
                    <a:pt x="496570" y="3234690"/>
                  </a:cubicBezTo>
                  <a:cubicBezTo>
                    <a:pt x="502920" y="3233420"/>
                    <a:pt x="509270" y="3233420"/>
                    <a:pt x="515620" y="3229610"/>
                  </a:cubicBezTo>
                  <a:cubicBezTo>
                    <a:pt x="521970" y="3225800"/>
                    <a:pt x="529590" y="3223260"/>
                    <a:pt x="535940" y="3220720"/>
                  </a:cubicBezTo>
                  <a:cubicBezTo>
                    <a:pt x="542290" y="3218180"/>
                    <a:pt x="548640" y="3216910"/>
                    <a:pt x="554990" y="3214370"/>
                  </a:cubicBezTo>
                  <a:lnTo>
                    <a:pt x="561340" y="3214370"/>
                  </a:lnTo>
                  <a:cubicBezTo>
                    <a:pt x="567690" y="3214370"/>
                    <a:pt x="572770" y="3214370"/>
                    <a:pt x="577850" y="3210560"/>
                  </a:cubicBezTo>
                  <a:lnTo>
                    <a:pt x="580390" y="3210560"/>
                  </a:lnTo>
                  <a:cubicBezTo>
                    <a:pt x="586740" y="3210560"/>
                    <a:pt x="594360" y="3211830"/>
                    <a:pt x="600710" y="3211830"/>
                  </a:cubicBezTo>
                  <a:lnTo>
                    <a:pt x="605790" y="3211830"/>
                  </a:lnTo>
                  <a:cubicBezTo>
                    <a:pt x="612140" y="3210560"/>
                    <a:pt x="614680" y="3215640"/>
                    <a:pt x="618490" y="3218180"/>
                  </a:cubicBezTo>
                  <a:cubicBezTo>
                    <a:pt x="624840" y="3225800"/>
                    <a:pt x="632460" y="3227070"/>
                    <a:pt x="642620" y="3225800"/>
                  </a:cubicBezTo>
                  <a:cubicBezTo>
                    <a:pt x="651510" y="3224530"/>
                    <a:pt x="659130" y="3223260"/>
                    <a:pt x="668020" y="3223260"/>
                  </a:cubicBezTo>
                  <a:cubicBezTo>
                    <a:pt x="671830" y="3223260"/>
                    <a:pt x="676910" y="3224530"/>
                    <a:pt x="680720" y="3225800"/>
                  </a:cubicBezTo>
                  <a:cubicBezTo>
                    <a:pt x="684530" y="3227070"/>
                    <a:pt x="687070" y="3228340"/>
                    <a:pt x="690880" y="3229610"/>
                  </a:cubicBezTo>
                  <a:lnTo>
                    <a:pt x="694690" y="3233420"/>
                  </a:lnTo>
                  <a:cubicBezTo>
                    <a:pt x="694690" y="3233420"/>
                    <a:pt x="695960" y="3237230"/>
                    <a:pt x="697230" y="3238500"/>
                  </a:cubicBezTo>
                  <a:cubicBezTo>
                    <a:pt x="699770" y="3239770"/>
                    <a:pt x="702310" y="3239770"/>
                    <a:pt x="703580" y="3241040"/>
                  </a:cubicBezTo>
                  <a:lnTo>
                    <a:pt x="704850" y="3242310"/>
                  </a:lnTo>
                  <a:cubicBezTo>
                    <a:pt x="711200" y="3238500"/>
                    <a:pt x="713740" y="3244850"/>
                    <a:pt x="717550" y="3246120"/>
                  </a:cubicBezTo>
                  <a:cubicBezTo>
                    <a:pt x="722630" y="3248660"/>
                    <a:pt x="726440" y="3251200"/>
                    <a:pt x="731520" y="3255010"/>
                  </a:cubicBezTo>
                  <a:cubicBezTo>
                    <a:pt x="731520" y="3253740"/>
                    <a:pt x="731520" y="3252470"/>
                    <a:pt x="732790" y="3251200"/>
                  </a:cubicBezTo>
                  <a:cubicBezTo>
                    <a:pt x="740410" y="3252470"/>
                    <a:pt x="749300" y="3252470"/>
                    <a:pt x="756920" y="3257550"/>
                  </a:cubicBezTo>
                  <a:cubicBezTo>
                    <a:pt x="758190" y="3255010"/>
                    <a:pt x="760730" y="3252470"/>
                    <a:pt x="763270" y="3249930"/>
                  </a:cubicBezTo>
                  <a:cubicBezTo>
                    <a:pt x="763270" y="3249930"/>
                    <a:pt x="763270" y="3248660"/>
                    <a:pt x="764540" y="3248660"/>
                  </a:cubicBezTo>
                  <a:cubicBezTo>
                    <a:pt x="770890" y="3247390"/>
                    <a:pt x="774700" y="3243580"/>
                    <a:pt x="775970" y="3237230"/>
                  </a:cubicBezTo>
                  <a:cubicBezTo>
                    <a:pt x="777240" y="3234690"/>
                    <a:pt x="777240" y="3232150"/>
                    <a:pt x="777240" y="3230880"/>
                  </a:cubicBezTo>
                  <a:cubicBezTo>
                    <a:pt x="782320" y="3228340"/>
                    <a:pt x="786130" y="3225800"/>
                    <a:pt x="791210" y="3223260"/>
                  </a:cubicBezTo>
                  <a:lnTo>
                    <a:pt x="791210" y="3220720"/>
                  </a:lnTo>
                  <a:cubicBezTo>
                    <a:pt x="787400" y="3214370"/>
                    <a:pt x="787400" y="3213100"/>
                    <a:pt x="793750" y="3210560"/>
                  </a:cubicBezTo>
                  <a:cubicBezTo>
                    <a:pt x="795020" y="3209290"/>
                    <a:pt x="795020" y="3208020"/>
                    <a:pt x="796290" y="3208020"/>
                  </a:cubicBezTo>
                  <a:cubicBezTo>
                    <a:pt x="798830" y="3206750"/>
                    <a:pt x="801370" y="3205480"/>
                    <a:pt x="802640" y="3204210"/>
                  </a:cubicBezTo>
                  <a:cubicBezTo>
                    <a:pt x="802640" y="3204210"/>
                    <a:pt x="802640" y="3205480"/>
                    <a:pt x="803910" y="3205480"/>
                  </a:cubicBezTo>
                  <a:lnTo>
                    <a:pt x="803910" y="3202940"/>
                  </a:lnTo>
                  <a:cubicBezTo>
                    <a:pt x="811530" y="3200400"/>
                    <a:pt x="819150" y="3197860"/>
                    <a:pt x="826770" y="3194050"/>
                  </a:cubicBezTo>
                  <a:cubicBezTo>
                    <a:pt x="830580" y="3191510"/>
                    <a:pt x="834390" y="3190240"/>
                    <a:pt x="839470" y="3192780"/>
                  </a:cubicBezTo>
                  <a:cubicBezTo>
                    <a:pt x="842010" y="3194050"/>
                    <a:pt x="844550" y="3192780"/>
                    <a:pt x="847090" y="3191510"/>
                  </a:cubicBezTo>
                  <a:cubicBezTo>
                    <a:pt x="853440" y="3188970"/>
                    <a:pt x="859790" y="3187700"/>
                    <a:pt x="866140" y="3185160"/>
                  </a:cubicBezTo>
                  <a:cubicBezTo>
                    <a:pt x="871220" y="3183890"/>
                    <a:pt x="875030" y="3181350"/>
                    <a:pt x="880110" y="3178810"/>
                  </a:cubicBezTo>
                  <a:cubicBezTo>
                    <a:pt x="880110" y="3178810"/>
                    <a:pt x="881380" y="3176270"/>
                    <a:pt x="880110" y="3175000"/>
                  </a:cubicBezTo>
                  <a:cubicBezTo>
                    <a:pt x="880110" y="3173730"/>
                    <a:pt x="878840" y="3171190"/>
                    <a:pt x="878840" y="3169920"/>
                  </a:cubicBezTo>
                  <a:cubicBezTo>
                    <a:pt x="882650" y="3167380"/>
                    <a:pt x="885190" y="3164840"/>
                    <a:pt x="887730" y="3164840"/>
                  </a:cubicBezTo>
                  <a:cubicBezTo>
                    <a:pt x="891540" y="3163570"/>
                    <a:pt x="896620" y="3163570"/>
                    <a:pt x="901700" y="3162300"/>
                  </a:cubicBezTo>
                  <a:cubicBezTo>
                    <a:pt x="905510" y="3150870"/>
                    <a:pt x="913130" y="3148330"/>
                    <a:pt x="922020" y="3152140"/>
                  </a:cubicBezTo>
                  <a:lnTo>
                    <a:pt x="924560" y="3149600"/>
                  </a:lnTo>
                  <a:cubicBezTo>
                    <a:pt x="925830" y="3150870"/>
                    <a:pt x="925830" y="3150870"/>
                    <a:pt x="925830" y="3152140"/>
                  </a:cubicBezTo>
                  <a:cubicBezTo>
                    <a:pt x="929640" y="3149600"/>
                    <a:pt x="933450" y="3147060"/>
                    <a:pt x="937260" y="3145790"/>
                  </a:cubicBezTo>
                  <a:cubicBezTo>
                    <a:pt x="941070" y="3143250"/>
                    <a:pt x="944880" y="3140710"/>
                    <a:pt x="949960" y="3143250"/>
                  </a:cubicBezTo>
                  <a:cubicBezTo>
                    <a:pt x="949960" y="3136900"/>
                    <a:pt x="953770" y="3136900"/>
                    <a:pt x="957580" y="3138170"/>
                  </a:cubicBezTo>
                  <a:cubicBezTo>
                    <a:pt x="960120" y="3138170"/>
                    <a:pt x="963930" y="3136900"/>
                    <a:pt x="966470" y="3135630"/>
                  </a:cubicBezTo>
                  <a:cubicBezTo>
                    <a:pt x="967740" y="3135630"/>
                    <a:pt x="970280" y="3134360"/>
                    <a:pt x="971550" y="3135630"/>
                  </a:cubicBezTo>
                  <a:cubicBezTo>
                    <a:pt x="976630" y="3139440"/>
                    <a:pt x="984250" y="3140710"/>
                    <a:pt x="989330" y="3147060"/>
                  </a:cubicBezTo>
                  <a:cubicBezTo>
                    <a:pt x="993140" y="3152140"/>
                    <a:pt x="999490" y="3154680"/>
                    <a:pt x="1002030" y="3162300"/>
                  </a:cubicBezTo>
                  <a:cubicBezTo>
                    <a:pt x="1003300" y="3164840"/>
                    <a:pt x="1008380" y="3167380"/>
                    <a:pt x="1010920" y="3168650"/>
                  </a:cubicBezTo>
                  <a:cubicBezTo>
                    <a:pt x="1010920" y="3168650"/>
                    <a:pt x="1012190" y="3168650"/>
                    <a:pt x="1013460" y="3169920"/>
                  </a:cubicBezTo>
                  <a:cubicBezTo>
                    <a:pt x="1014730" y="3173730"/>
                    <a:pt x="1018540" y="3172460"/>
                    <a:pt x="1021080" y="3171190"/>
                  </a:cubicBezTo>
                  <a:cubicBezTo>
                    <a:pt x="1023620" y="3171190"/>
                    <a:pt x="1026160" y="3169920"/>
                    <a:pt x="1027430" y="3173730"/>
                  </a:cubicBezTo>
                  <a:cubicBezTo>
                    <a:pt x="1027430" y="3175000"/>
                    <a:pt x="1031240" y="3176270"/>
                    <a:pt x="1032510" y="3177540"/>
                  </a:cubicBezTo>
                  <a:cubicBezTo>
                    <a:pt x="1036320" y="3180080"/>
                    <a:pt x="1040130" y="3182620"/>
                    <a:pt x="1042670" y="3185160"/>
                  </a:cubicBezTo>
                  <a:cubicBezTo>
                    <a:pt x="1043940" y="3186430"/>
                    <a:pt x="1045210" y="3187700"/>
                    <a:pt x="1045210" y="3188970"/>
                  </a:cubicBezTo>
                  <a:cubicBezTo>
                    <a:pt x="1045210" y="3192780"/>
                    <a:pt x="1049020" y="3195320"/>
                    <a:pt x="1052830" y="3195320"/>
                  </a:cubicBezTo>
                  <a:cubicBezTo>
                    <a:pt x="1057910" y="3196590"/>
                    <a:pt x="1061720" y="3196590"/>
                    <a:pt x="1066800" y="3197860"/>
                  </a:cubicBezTo>
                  <a:cubicBezTo>
                    <a:pt x="1068070" y="3197860"/>
                    <a:pt x="1068070" y="3200400"/>
                    <a:pt x="1069340" y="3200400"/>
                  </a:cubicBezTo>
                  <a:cubicBezTo>
                    <a:pt x="1070610" y="3202940"/>
                    <a:pt x="1071880" y="3206750"/>
                    <a:pt x="1076960" y="3204210"/>
                  </a:cubicBezTo>
                  <a:cubicBezTo>
                    <a:pt x="1079500" y="3202940"/>
                    <a:pt x="1087120" y="3205480"/>
                    <a:pt x="1088390" y="3208020"/>
                  </a:cubicBezTo>
                  <a:cubicBezTo>
                    <a:pt x="1090930" y="3216910"/>
                    <a:pt x="1099820" y="3216910"/>
                    <a:pt x="1106170" y="3219450"/>
                  </a:cubicBezTo>
                  <a:cubicBezTo>
                    <a:pt x="1107440" y="3219450"/>
                    <a:pt x="1108710" y="3219450"/>
                    <a:pt x="1108710" y="3220720"/>
                  </a:cubicBezTo>
                  <a:cubicBezTo>
                    <a:pt x="1112520" y="3225800"/>
                    <a:pt x="1117600" y="3227070"/>
                    <a:pt x="1122680" y="3229610"/>
                  </a:cubicBezTo>
                  <a:cubicBezTo>
                    <a:pt x="1127760" y="3232150"/>
                    <a:pt x="1132840" y="3237230"/>
                    <a:pt x="1137920" y="3242310"/>
                  </a:cubicBezTo>
                  <a:lnTo>
                    <a:pt x="1144270" y="3248660"/>
                  </a:lnTo>
                  <a:cubicBezTo>
                    <a:pt x="1145540" y="3249930"/>
                    <a:pt x="1146810" y="3249930"/>
                    <a:pt x="1148080" y="3249930"/>
                  </a:cubicBezTo>
                  <a:cubicBezTo>
                    <a:pt x="1151890" y="3249930"/>
                    <a:pt x="1155700" y="3248660"/>
                    <a:pt x="1158240" y="3252470"/>
                  </a:cubicBezTo>
                  <a:cubicBezTo>
                    <a:pt x="1158240" y="3252470"/>
                    <a:pt x="1159510" y="3253740"/>
                    <a:pt x="1160780" y="3253740"/>
                  </a:cubicBezTo>
                  <a:cubicBezTo>
                    <a:pt x="1170940" y="3252470"/>
                    <a:pt x="1177290" y="3258820"/>
                    <a:pt x="1183640" y="3265170"/>
                  </a:cubicBezTo>
                  <a:cubicBezTo>
                    <a:pt x="1186180" y="3267710"/>
                    <a:pt x="1191260" y="3268980"/>
                    <a:pt x="1193800" y="3268980"/>
                  </a:cubicBezTo>
                  <a:cubicBezTo>
                    <a:pt x="1201420" y="3271520"/>
                    <a:pt x="1210310" y="3272790"/>
                    <a:pt x="1216660" y="3277870"/>
                  </a:cubicBezTo>
                  <a:cubicBezTo>
                    <a:pt x="1220470" y="3280410"/>
                    <a:pt x="1225550" y="3284220"/>
                    <a:pt x="1229360" y="3284220"/>
                  </a:cubicBezTo>
                  <a:cubicBezTo>
                    <a:pt x="1235710" y="3284220"/>
                    <a:pt x="1238250" y="3289300"/>
                    <a:pt x="1240790" y="3293110"/>
                  </a:cubicBezTo>
                  <a:cubicBezTo>
                    <a:pt x="1248410" y="3294380"/>
                    <a:pt x="1256030" y="3294380"/>
                    <a:pt x="1259840" y="3302000"/>
                  </a:cubicBezTo>
                  <a:cubicBezTo>
                    <a:pt x="1259840" y="3303270"/>
                    <a:pt x="1261110" y="3303270"/>
                    <a:pt x="1262380" y="3303270"/>
                  </a:cubicBezTo>
                  <a:cubicBezTo>
                    <a:pt x="1267460" y="3304540"/>
                    <a:pt x="1272540" y="3305810"/>
                    <a:pt x="1277620" y="3308350"/>
                  </a:cubicBezTo>
                  <a:cubicBezTo>
                    <a:pt x="1280160" y="3309620"/>
                    <a:pt x="1282700" y="3312160"/>
                    <a:pt x="1286510" y="3314700"/>
                  </a:cubicBezTo>
                  <a:cubicBezTo>
                    <a:pt x="1287780" y="3314700"/>
                    <a:pt x="1287780" y="3315970"/>
                    <a:pt x="1289050" y="3315970"/>
                  </a:cubicBezTo>
                  <a:cubicBezTo>
                    <a:pt x="1297940" y="3315970"/>
                    <a:pt x="1300480" y="3322320"/>
                    <a:pt x="1305560" y="3327400"/>
                  </a:cubicBezTo>
                  <a:cubicBezTo>
                    <a:pt x="1313180" y="3333750"/>
                    <a:pt x="1322070" y="3340100"/>
                    <a:pt x="1328420" y="3347720"/>
                  </a:cubicBezTo>
                  <a:cubicBezTo>
                    <a:pt x="1332230" y="3352800"/>
                    <a:pt x="1338580" y="3355340"/>
                    <a:pt x="1342390" y="3357880"/>
                  </a:cubicBezTo>
                  <a:lnTo>
                    <a:pt x="1350010" y="3361690"/>
                  </a:lnTo>
                  <a:cubicBezTo>
                    <a:pt x="1352550" y="3364230"/>
                    <a:pt x="1355090" y="3366770"/>
                    <a:pt x="1358900" y="3369310"/>
                  </a:cubicBezTo>
                  <a:cubicBezTo>
                    <a:pt x="1362710" y="3370580"/>
                    <a:pt x="1363980" y="3375660"/>
                    <a:pt x="1369060" y="3374390"/>
                  </a:cubicBezTo>
                  <a:cubicBezTo>
                    <a:pt x="1371600" y="3374390"/>
                    <a:pt x="1374140" y="3375660"/>
                    <a:pt x="1376680" y="3376930"/>
                  </a:cubicBezTo>
                  <a:cubicBezTo>
                    <a:pt x="1380490" y="3379470"/>
                    <a:pt x="1381760" y="3382010"/>
                    <a:pt x="1386840" y="3382010"/>
                  </a:cubicBezTo>
                  <a:cubicBezTo>
                    <a:pt x="1389380" y="3382010"/>
                    <a:pt x="1391920" y="3384550"/>
                    <a:pt x="1393190" y="3385820"/>
                  </a:cubicBezTo>
                  <a:cubicBezTo>
                    <a:pt x="1399540" y="3388360"/>
                    <a:pt x="1405890" y="3388360"/>
                    <a:pt x="1409700" y="3380740"/>
                  </a:cubicBezTo>
                  <a:lnTo>
                    <a:pt x="1410970" y="3379470"/>
                  </a:lnTo>
                  <a:cubicBezTo>
                    <a:pt x="1416050" y="3382010"/>
                    <a:pt x="1416050" y="3376930"/>
                    <a:pt x="1417320" y="3374390"/>
                  </a:cubicBezTo>
                  <a:cubicBezTo>
                    <a:pt x="1418590" y="3373120"/>
                    <a:pt x="1421130" y="3371850"/>
                    <a:pt x="1422400" y="3370580"/>
                  </a:cubicBezTo>
                  <a:cubicBezTo>
                    <a:pt x="1424940" y="3368040"/>
                    <a:pt x="1427480" y="3366770"/>
                    <a:pt x="1431290" y="3364230"/>
                  </a:cubicBezTo>
                  <a:cubicBezTo>
                    <a:pt x="1432560" y="3362960"/>
                    <a:pt x="1435100" y="3361690"/>
                    <a:pt x="1436370" y="3361690"/>
                  </a:cubicBezTo>
                  <a:cubicBezTo>
                    <a:pt x="1442720" y="3361690"/>
                    <a:pt x="1446530" y="3359150"/>
                    <a:pt x="1451610" y="3354070"/>
                  </a:cubicBezTo>
                  <a:cubicBezTo>
                    <a:pt x="1455420" y="3350260"/>
                    <a:pt x="1461770" y="3347720"/>
                    <a:pt x="1466850" y="3345180"/>
                  </a:cubicBezTo>
                  <a:cubicBezTo>
                    <a:pt x="1471930" y="3342640"/>
                    <a:pt x="1477010" y="3340100"/>
                    <a:pt x="1483360" y="3338830"/>
                  </a:cubicBezTo>
                  <a:cubicBezTo>
                    <a:pt x="1487170" y="3337560"/>
                    <a:pt x="1490980" y="3337560"/>
                    <a:pt x="1494790" y="3337560"/>
                  </a:cubicBezTo>
                  <a:lnTo>
                    <a:pt x="1497330" y="3337560"/>
                  </a:lnTo>
                  <a:cubicBezTo>
                    <a:pt x="1502410" y="3335020"/>
                    <a:pt x="1507490" y="3331210"/>
                    <a:pt x="1513840" y="3328670"/>
                  </a:cubicBezTo>
                  <a:lnTo>
                    <a:pt x="1517650" y="3328670"/>
                  </a:lnTo>
                  <a:cubicBezTo>
                    <a:pt x="1524000" y="3331210"/>
                    <a:pt x="1530350" y="3331210"/>
                    <a:pt x="1536700" y="3326130"/>
                  </a:cubicBezTo>
                  <a:cubicBezTo>
                    <a:pt x="1537970" y="3324860"/>
                    <a:pt x="1540510" y="3323590"/>
                    <a:pt x="1541780" y="3322320"/>
                  </a:cubicBezTo>
                  <a:cubicBezTo>
                    <a:pt x="1548130" y="3324860"/>
                    <a:pt x="1554480" y="3329940"/>
                    <a:pt x="1562100" y="3329940"/>
                  </a:cubicBezTo>
                  <a:cubicBezTo>
                    <a:pt x="1564640" y="3329940"/>
                    <a:pt x="1568450" y="3328670"/>
                    <a:pt x="1570990" y="3327400"/>
                  </a:cubicBezTo>
                  <a:cubicBezTo>
                    <a:pt x="1576070" y="3327400"/>
                    <a:pt x="1581150" y="3327400"/>
                    <a:pt x="1584960" y="3326130"/>
                  </a:cubicBezTo>
                  <a:cubicBezTo>
                    <a:pt x="1590040" y="3324860"/>
                    <a:pt x="1596390" y="3326130"/>
                    <a:pt x="1601470" y="3323590"/>
                  </a:cubicBezTo>
                  <a:cubicBezTo>
                    <a:pt x="1604010" y="3317240"/>
                    <a:pt x="1605280" y="3317240"/>
                    <a:pt x="1611630" y="3318510"/>
                  </a:cubicBezTo>
                  <a:cubicBezTo>
                    <a:pt x="1619250" y="3319780"/>
                    <a:pt x="1624330" y="3318510"/>
                    <a:pt x="1629410" y="3312160"/>
                  </a:cubicBezTo>
                  <a:cubicBezTo>
                    <a:pt x="1631950" y="3308350"/>
                    <a:pt x="1638300" y="3308350"/>
                    <a:pt x="1642110" y="3305810"/>
                  </a:cubicBezTo>
                  <a:cubicBezTo>
                    <a:pt x="1643380" y="3305810"/>
                    <a:pt x="1644650" y="3304540"/>
                    <a:pt x="1645920" y="3304540"/>
                  </a:cubicBezTo>
                  <a:cubicBezTo>
                    <a:pt x="1648460" y="3303270"/>
                    <a:pt x="1649730" y="3303270"/>
                    <a:pt x="1652270" y="3302000"/>
                  </a:cubicBezTo>
                  <a:cubicBezTo>
                    <a:pt x="1658620" y="3299460"/>
                    <a:pt x="1664970" y="3298190"/>
                    <a:pt x="1671320" y="3294380"/>
                  </a:cubicBezTo>
                  <a:cubicBezTo>
                    <a:pt x="1677670" y="3290570"/>
                    <a:pt x="1682750" y="3288030"/>
                    <a:pt x="1689100" y="3293110"/>
                  </a:cubicBezTo>
                  <a:lnTo>
                    <a:pt x="1691640" y="3293110"/>
                  </a:lnTo>
                  <a:cubicBezTo>
                    <a:pt x="1694180" y="3291840"/>
                    <a:pt x="1695450" y="3291840"/>
                    <a:pt x="1697990" y="3290570"/>
                  </a:cubicBezTo>
                  <a:cubicBezTo>
                    <a:pt x="1697990" y="3286760"/>
                    <a:pt x="1697990" y="3281680"/>
                    <a:pt x="1703070" y="3277870"/>
                  </a:cubicBezTo>
                  <a:cubicBezTo>
                    <a:pt x="1704340" y="3276600"/>
                    <a:pt x="1704340" y="3274060"/>
                    <a:pt x="1706880" y="3272790"/>
                  </a:cubicBezTo>
                  <a:cubicBezTo>
                    <a:pt x="1709420" y="3270250"/>
                    <a:pt x="1713230" y="3270250"/>
                    <a:pt x="1715770" y="3271520"/>
                  </a:cubicBezTo>
                  <a:cubicBezTo>
                    <a:pt x="1717040" y="3272790"/>
                    <a:pt x="1719580" y="3271520"/>
                    <a:pt x="1720850" y="3271520"/>
                  </a:cubicBezTo>
                  <a:cubicBezTo>
                    <a:pt x="1728470" y="3270250"/>
                    <a:pt x="1737360" y="3270250"/>
                    <a:pt x="1744980" y="3268980"/>
                  </a:cubicBezTo>
                  <a:cubicBezTo>
                    <a:pt x="1752600" y="3267710"/>
                    <a:pt x="1760220" y="3266440"/>
                    <a:pt x="1767840" y="3263900"/>
                  </a:cubicBezTo>
                  <a:cubicBezTo>
                    <a:pt x="1772920" y="3261360"/>
                    <a:pt x="1778000" y="3262630"/>
                    <a:pt x="1783080" y="3262630"/>
                  </a:cubicBezTo>
                  <a:cubicBezTo>
                    <a:pt x="1793240" y="3263900"/>
                    <a:pt x="1802130" y="3263900"/>
                    <a:pt x="1811020" y="3258820"/>
                  </a:cubicBezTo>
                  <a:lnTo>
                    <a:pt x="1808480" y="3256280"/>
                  </a:lnTo>
                  <a:cubicBezTo>
                    <a:pt x="1811020" y="3255010"/>
                    <a:pt x="1813560" y="3255010"/>
                    <a:pt x="1817370" y="3255010"/>
                  </a:cubicBezTo>
                  <a:cubicBezTo>
                    <a:pt x="1819910" y="3258820"/>
                    <a:pt x="1823720" y="3256280"/>
                    <a:pt x="1826260" y="3253740"/>
                  </a:cubicBezTo>
                  <a:cubicBezTo>
                    <a:pt x="1830070" y="3249930"/>
                    <a:pt x="1833880" y="3251200"/>
                    <a:pt x="1838960" y="3251200"/>
                  </a:cubicBezTo>
                  <a:cubicBezTo>
                    <a:pt x="1844040" y="3252470"/>
                    <a:pt x="1850390" y="3249930"/>
                    <a:pt x="1856740" y="3248660"/>
                  </a:cubicBezTo>
                  <a:cubicBezTo>
                    <a:pt x="1858010" y="3248660"/>
                    <a:pt x="1859280" y="3246120"/>
                    <a:pt x="1859280" y="3244850"/>
                  </a:cubicBezTo>
                  <a:cubicBezTo>
                    <a:pt x="1861820" y="3244850"/>
                    <a:pt x="1864360" y="3243580"/>
                    <a:pt x="1868170" y="3243580"/>
                  </a:cubicBezTo>
                  <a:lnTo>
                    <a:pt x="1873250" y="3243580"/>
                  </a:lnTo>
                  <a:cubicBezTo>
                    <a:pt x="1878330" y="3246120"/>
                    <a:pt x="1883410" y="3246120"/>
                    <a:pt x="1888490" y="3243580"/>
                  </a:cubicBezTo>
                  <a:cubicBezTo>
                    <a:pt x="1889760" y="3242310"/>
                    <a:pt x="1892300" y="3242310"/>
                    <a:pt x="1893570" y="3242310"/>
                  </a:cubicBezTo>
                  <a:cubicBezTo>
                    <a:pt x="1897380" y="3241040"/>
                    <a:pt x="1901190" y="3242310"/>
                    <a:pt x="1903730" y="3238500"/>
                  </a:cubicBezTo>
                  <a:cubicBezTo>
                    <a:pt x="1905000" y="3237230"/>
                    <a:pt x="1907540" y="3238500"/>
                    <a:pt x="1910080" y="3237230"/>
                  </a:cubicBezTo>
                  <a:lnTo>
                    <a:pt x="1946910" y="3237230"/>
                  </a:lnTo>
                  <a:cubicBezTo>
                    <a:pt x="1951990" y="3237230"/>
                    <a:pt x="1958340" y="3238500"/>
                    <a:pt x="1963420" y="3239770"/>
                  </a:cubicBezTo>
                  <a:cubicBezTo>
                    <a:pt x="1969770" y="3241040"/>
                    <a:pt x="1974850" y="3239770"/>
                    <a:pt x="1979930" y="3238500"/>
                  </a:cubicBezTo>
                  <a:lnTo>
                    <a:pt x="1988820" y="3238500"/>
                  </a:lnTo>
                  <a:cubicBezTo>
                    <a:pt x="1992630" y="3238500"/>
                    <a:pt x="1996440" y="3239770"/>
                    <a:pt x="2000250" y="3238500"/>
                  </a:cubicBezTo>
                  <a:cubicBezTo>
                    <a:pt x="2002790" y="3238500"/>
                    <a:pt x="2004060" y="3235960"/>
                    <a:pt x="2005330" y="3233420"/>
                  </a:cubicBezTo>
                  <a:cubicBezTo>
                    <a:pt x="2007870" y="3229610"/>
                    <a:pt x="2011680" y="3228340"/>
                    <a:pt x="2016760" y="3228340"/>
                  </a:cubicBezTo>
                  <a:cubicBezTo>
                    <a:pt x="2020570" y="3228340"/>
                    <a:pt x="2024380" y="3227070"/>
                    <a:pt x="2028190" y="3225800"/>
                  </a:cubicBezTo>
                  <a:lnTo>
                    <a:pt x="2030730" y="3225800"/>
                  </a:lnTo>
                  <a:cubicBezTo>
                    <a:pt x="2035810" y="3233420"/>
                    <a:pt x="2043430" y="3228340"/>
                    <a:pt x="2049780" y="3229610"/>
                  </a:cubicBezTo>
                  <a:lnTo>
                    <a:pt x="2052320" y="3229610"/>
                  </a:lnTo>
                  <a:cubicBezTo>
                    <a:pt x="2057400" y="3232150"/>
                    <a:pt x="2063750" y="3234690"/>
                    <a:pt x="2068830" y="3235960"/>
                  </a:cubicBezTo>
                  <a:cubicBezTo>
                    <a:pt x="2075180" y="3237230"/>
                    <a:pt x="2080260" y="3243580"/>
                    <a:pt x="2085340" y="3243580"/>
                  </a:cubicBezTo>
                  <a:cubicBezTo>
                    <a:pt x="2094230" y="3243580"/>
                    <a:pt x="2101850" y="3249930"/>
                    <a:pt x="2109470" y="3251200"/>
                  </a:cubicBezTo>
                  <a:cubicBezTo>
                    <a:pt x="2115820" y="3252470"/>
                    <a:pt x="2122170" y="3255010"/>
                    <a:pt x="2128520" y="3257550"/>
                  </a:cubicBezTo>
                  <a:cubicBezTo>
                    <a:pt x="2131060" y="3258820"/>
                    <a:pt x="2134870" y="3257550"/>
                    <a:pt x="2137410" y="3257550"/>
                  </a:cubicBezTo>
                  <a:cubicBezTo>
                    <a:pt x="2145030" y="3258820"/>
                    <a:pt x="2152650" y="3258820"/>
                    <a:pt x="2160270" y="3260090"/>
                  </a:cubicBezTo>
                  <a:lnTo>
                    <a:pt x="2161540" y="3260090"/>
                  </a:lnTo>
                  <a:cubicBezTo>
                    <a:pt x="2170430" y="3258820"/>
                    <a:pt x="2179320" y="3261360"/>
                    <a:pt x="2188210" y="3261360"/>
                  </a:cubicBezTo>
                  <a:cubicBezTo>
                    <a:pt x="2189480" y="3035300"/>
                    <a:pt x="2183130" y="2809240"/>
                    <a:pt x="2175510" y="2583180"/>
                  </a:cubicBezTo>
                  <a:cubicBezTo>
                    <a:pt x="2167890" y="2368550"/>
                    <a:pt x="2160270" y="2153920"/>
                    <a:pt x="2159000" y="1939290"/>
                  </a:cubicBezTo>
                  <a:cubicBezTo>
                    <a:pt x="2159000" y="1831340"/>
                    <a:pt x="2160270" y="1724660"/>
                    <a:pt x="2162810" y="1616710"/>
                  </a:cubicBezTo>
                  <a:cubicBezTo>
                    <a:pt x="2166620" y="1508760"/>
                    <a:pt x="2174240" y="1400810"/>
                    <a:pt x="2179320" y="1292860"/>
                  </a:cubicBezTo>
                  <a:cubicBezTo>
                    <a:pt x="2194560" y="951230"/>
                    <a:pt x="2185670" y="608330"/>
                    <a:pt x="2180590" y="266700"/>
                  </a:cubicBezTo>
                  <a:cubicBezTo>
                    <a:pt x="2176780" y="265430"/>
                    <a:pt x="2174240" y="264160"/>
                    <a:pt x="2171700" y="262890"/>
                  </a:cubicBezTo>
                  <a:cubicBezTo>
                    <a:pt x="2167890" y="260350"/>
                    <a:pt x="2164080" y="259080"/>
                    <a:pt x="2159000" y="260350"/>
                  </a:cubicBezTo>
                  <a:lnTo>
                    <a:pt x="2151380" y="260350"/>
                  </a:lnTo>
                  <a:cubicBezTo>
                    <a:pt x="2147570" y="260350"/>
                    <a:pt x="2142490" y="260350"/>
                    <a:pt x="2139950" y="265430"/>
                  </a:cubicBezTo>
                  <a:cubicBezTo>
                    <a:pt x="2139950" y="265430"/>
                    <a:pt x="2138680" y="266700"/>
                    <a:pt x="2137410" y="266700"/>
                  </a:cubicBezTo>
                  <a:lnTo>
                    <a:pt x="2132330" y="266700"/>
                  </a:lnTo>
                  <a:cubicBezTo>
                    <a:pt x="2131060" y="264160"/>
                    <a:pt x="2133600" y="259080"/>
                    <a:pt x="2127250" y="260350"/>
                  </a:cubicBezTo>
                  <a:cubicBezTo>
                    <a:pt x="2124710" y="260350"/>
                    <a:pt x="2120900" y="261620"/>
                    <a:pt x="2118360" y="261620"/>
                  </a:cubicBezTo>
                  <a:lnTo>
                    <a:pt x="2099310" y="261620"/>
                  </a:lnTo>
                  <a:cubicBezTo>
                    <a:pt x="2098040" y="259080"/>
                    <a:pt x="2096770" y="256540"/>
                    <a:pt x="2094230" y="252730"/>
                  </a:cubicBezTo>
                  <a:cubicBezTo>
                    <a:pt x="2092960" y="250190"/>
                    <a:pt x="2091690" y="248920"/>
                    <a:pt x="2087880" y="251460"/>
                  </a:cubicBezTo>
                  <a:cubicBezTo>
                    <a:pt x="2085340" y="252730"/>
                    <a:pt x="2084070" y="252730"/>
                    <a:pt x="2082800" y="250190"/>
                  </a:cubicBezTo>
                  <a:cubicBezTo>
                    <a:pt x="2078990" y="243840"/>
                    <a:pt x="2075180" y="238760"/>
                    <a:pt x="2067560" y="237490"/>
                  </a:cubicBezTo>
                  <a:cubicBezTo>
                    <a:pt x="2066290" y="237490"/>
                    <a:pt x="2065020" y="234950"/>
                    <a:pt x="2063750" y="233680"/>
                  </a:cubicBezTo>
                  <a:cubicBezTo>
                    <a:pt x="2061210" y="231140"/>
                    <a:pt x="2059940" y="228600"/>
                    <a:pt x="2056130" y="228600"/>
                  </a:cubicBezTo>
                  <a:cubicBezTo>
                    <a:pt x="2054860" y="228600"/>
                    <a:pt x="2052320" y="226060"/>
                    <a:pt x="2052320" y="224790"/>
                  </a:cubicBezTo>
                  <a:cubicBezTo>
                    <a:pt x="2051050" y="219710"/>
                    <a:pt x="2051050" y="215900"/>
                    <a:pt x="2051050" y="210820"/>
                  </a:cubicBezTo>
                  <a:cubicBezTo>
                    <a:pt x="2049780" y="205740"/>
                    <a:pt x="2047240" y="200660"/>
                    <a:pt x="2043430" y="198120"/>
                  </a:cubicBezTo>
                  <a:cubicBezTo>
                    <a:pt x="2037080" y="194310"/>
                    <a:pt x="2032000" y="189230"/>
                    <a:pt x="2025650" y="185420"/>
                  </a:cubicBezTo>
                  <a:cubicBezTo>
                    <a:pt x="2024380" y="184150"/>
                    <a:pt x="2021840" y="182880"/>
                    <a:pt x="2019300" y="182880"/>
                  </a:cubicBezTo>
                  <a:cubicBezTo>
                    <a:pt x="2015490" y="181610"/>
                    <a:pt x="2011680" y="180340"/>
                    <a:pt x="2007870" y="180340"/>
                  </a:cubicBezTo>
                  <a:cubicBezTo>
                    <a:pt x="2004060" y="180340"/>
                    <a:pt x="1998980" y="180340"/>
                    <a:pt x="1995170" y="182880"/>
                  </a:cubicBezTo>
                  <a:cubicBezTo>
                    <a:pt x="1987550" y="186690"/>
                    <a:pt x="1981200" y="181610"/>
                    <a:pt x="1974850" y="181610"/>
                  </a:cubicBezTo>
                  <a:cubicBezTo>
                    <a:pt x="1968500" y="180340"/>
                    <a:pt x="1962150" y="177800"/>
                    <a:pt x="1957070" y="176530"/>
                  </a:cubicBezTo>
                  <a:lnTo>
                    <a:pt x="1940560" y="176530"/>
                  </a:lnTo>
                  <a:cubicBezTo>
                    <a:pt x="1926590" y="179070"/>
                    <a:pt x="1915160" y="171450"/>
                    <a:pt x="1901190" y="170180"/>
                  </a:cubicBezTo>
                  <a:cubicBezTo>
                    <a:pt x="1897380" y="170180"/>
                    <a:pt x="1893570" y="166370"/>
                    <a:pt x="1889760" y="163830"/>
                  </a:cubicBezTo>
                  <a:cubicBezTo>
                    <a:pt x="1887220" y="161290"/>
                    <a:pt x="1884680" y="161290"/>
                    <a:pt x="1880870" y="162560"/>
                  </a:cubicBezTo>
                  <a:cubicBezTo>
                    <a:pt x="1875790" y="163830"/>
                    <a:pt x="1870710" y="162560"/>
                    <a:pt x="1865630" y="163830"/>
                  </a:cubicBezTo>
                  <a:cubicBezTo>
                    <a:pt x="1858010" y="166370"/>
                    <a:pt x="1851660" y="160020"/>
                    <a:pt x="1844040" y="160020"/>
                  </a:cubicBezTo>
                  <a:cubicBezTo>
                    <a:pt x="1837690" y="161290"/>
                    <a:pt x="1831340" y="161290"/>
                    <a:pt x="1824990" y="162560"/>
                  </a:cubicBezTo>
                  <a:lnTo>
                    <a:pt x="1809750" y="166370"/>
                  </a:lnTo>
                  <a:cubicBezTo>
                    <a:pt x="1799590" y="171450"/>
                    <a:pt x="1791970" y="165100"/>
                    <a:pt x="1783080" y="162560"/>
                  </a:cubicBezTo>
                  <a:cubicBezTo>
                    <a:pt x="1776730" y="161290"/>
                    <a:pt x="1772920" y="158750"/>
                    <a:pt x="1767840" y="154940"/>
                  </a:cubicBezTo>
                  <a:cubicBezTo>
                    <a:pt x="1762760" y="151130"/>
                    <a:pt x="1757680" y="154940"/>
                    <a:pt x="1753870" y="154940"/>
                  </a:cubicBezTo>
                  <a:cubicBezTo>
                    <a:pt x="1750060" y="154940"/>
                    <a:pt x="1747520" y="158750"/>
                    <a:pt x="1744980" y="160020"/>
                  </a:cubicBezTo>
                  <a:cubicBezTo>
                    <a:pt x="1741170" y="161290"/>
                    <a:pt x="1737360" y="161290"/>
                    <a:pt x="1733550" y="161290"/>
                  </a:cubicBezTo>
                  <a:cubicBezTo>
                    <a:pt x="1729740" y="161290"/>
                    <a:pt x="1724660" y="160020"/>
                    <a:pt x="1720850" y="161290"/>
                  </a:cubicBezTo>
                  <a:cubicBezTo>
                    <a:pt x="1714500" y="163830"/>
                    <a:pt x="1709420" y="167640"/>
                    <a:pt x="1704340" y="170180"/>
                  </a:cubicBezTo>
                  <a:cubicBezTo>
                    <a:pt x="1703070" y="171450"/>
                    <a:pt x="1701800" y="172720"/>
                    <a:pt x="1700530" y="172720"/>
                  </a:cubicBezTo>
                  <a:cubicBezTo>
                    <a:pt x="1691640" y="177800"/>
                    <a:pt x="1681480" y="179070"/>
                    <a:pt x="1670050" y="179070"/>
                  </a:cubicBezTo>
                  <a:cubicBezTo>
                    <a:pt x="1663700" y="179070"/>
                    <a:pt x="1657350" y="179070"/>
                    <a:pt x="1651000" y="177800"/>
                  </a:cubicBezTo>
                  <a:cubicBezTo>
                    <a:pt x="1647190" y="177800"/>
                    <a:pt x="1644650" y="173990"/>
                    <a:pt x="1642110" y="173990"/>
                  </a:cubicBezTo>
                  <a:cubicBezTo>
                    <a:pt x="1633220" y="172720"/>
                    <a:pt x="1625600" y="172720"/>
                    <a:pt x="1616710" y="172720"/>
                  </a:cubicBezTo>
                  <a:cubicBezTo>
                    <a:pt x="1615440" y="172720"/>
                    <a:pt x="1614170" y="173990"/>
                    <a:pt x="1612900" y="173990"/>
                  </a:cubicBezTo>
                  <a:cubicBezTo>
                    <a:pt x="1607820" y="176530"/>
                    <a:pt x="1602740" y="180340"/>
                    <a:pt x="1597660" y="182880"/>
                  </a:cubicBezTo>
                  <a:cubicBezTo>
                    <a:pt x="1588770" y="185420"/>
                    <a:pt x="1579880" y="187960"/>
                    <a:pt x="1570990" y="189230"/>
                  </a:cubicBezTo>
                  <a:lnTo>
                    <a:pt x="1567180" y="189230"/>
                  </a:lnTo>
                  <a:cubicBezTo>
                    <a:pt x="1559560" y="185420"/>
                    <a:pt x="1553210" y="189230"/>
                    <a:pt x="1545590" y="190500"/>
                  </a:cubicBezTo>
                  <a:cubicBezTo>
                    <a:pt x="1537970" y="193040"/>
                    <a:pt x="1530350" y="196850"/>
                    <a:pt x="1522730" y="199390"/>
                  </a:cubicBezTo>
                  <a:cubicBezTo>
                    <a:pt x="1520190" y="200660"/>
                    <a:pt x="1517650" y="199390"/>
                    <a:pt x="1515110" y="198120"/>
                  </a:cubicBezTo>
                  <a:cubicBezTo>
                    <a:pt x="1511300" y="196850"/>
                    <a:pt x="1508760" y="196850"/>
                    <a:pt x="1506220" y="199390"/>
                  </a:cubicBezTo>
                  <a:cubicBezTo>
                    <a:pt x="1504950" y="200660"/>
                    <a:pt x="1503680" y="200660"/>
                    <a:pt x="1502410" y="200660"/>
                  </a:cubicBezTo>
                  <a:cubicBezTo>
                    <a:pt x="1498600" y="201930"/>
                    <a:pt x="1494790" y="201930"/>
                    <a:pt x="1492250" y="203200"/>
                  </a:cubicBezTo>
                  <a:cubicBezTo>
                    <a:pt x="1487170" y="207010"/>
                    <a:pt x="1482090" y="205740"/>
                    <a:pt x="1477010" y="208280"/>
                  </a:cubicBezTo>
                  <a:cubicBezTo>
                    <a:pt x="1471930" y="210820"/>
                    <a:pt x="1466850" y="210820"/>
                    <a:pt x="1463040" y="214630"/>
                  </a:cubicBezTo>
                  <a:cubicBezTo>
                    <a:pt x="1461770" y="215900"/>
                    <a:pt x="1459230" y="215900"/>
                    <a:pt x="1456690" y="215900"/>
                  </a:cubicBezTo>
                  <a:cubicBezTo>
                    <a:pt x="1450340" y="217170"/>
                    <a:pt x="1445260" y="220980"/>
                    <a:pt x="1441450" y="226060"/>
                  </a:cubicBezTo>
                  <a:cubicBezTo>
                    <a:pt x="1436370" y="231140"/>
                    <a:pt x="1431290" y="234950"/>
                    <a:pt x="1426210" y="238760"/>
                  </a:cubicBezTo>
                  <a:cubicBezTo>
                    <a:pt x="1424940" y="240030"/>
                    <a:pt x="1421130" y="240030"/>
                    <a:pt x="1419860" y="240030"/>
                  </a:cubicBezTo>
                  <a:cubicBezTo>
                    <a:pt x="1414780" y="240030"/>
                    <a:pt x="1409700" y="238760"/>
                    <a:pt x="1405890" y="237490"/>
                  </a:cubicBezTo>
                  <a:cubicBezTo>
                    <a:pt x="1403350" y="237490"/>
                    <a:pt x="1402080" y="236220"/>
                    <a:pt x="1399540" y="236220"/>
                  </a:cubicBezTo>
                  <a:cubicBezTo>
                    <a:pt x="1391920" y="240030"/>
                    <a:pt x="1383030" y="237490"/>
                    <a:pt x="1375410" y="237490"/>
                  </a:cubicBezTo>
                  <a:cubicBezTo>
                    <a:pt x="1374140" y="237490"/>
                    <a:pt x="1371600" y="236220"/>
                    <a:pt x="1370330" y="234950"/>
                  </a:cubicBezTo>
                  <a:cubicBezTo>
                    <a:pt x="1365250" y="231140"/>
                    <a:pt x="1360170" y="231140"/>
                    <a:pt x="1355090" y="233680"/>
                  </a:cubicBezTo>
                  <a:cubicBezTo>
                    <a:pt x="1351280" y="234950"/>
                    <a:pt x="1347470" y="234950"/>
                    <a:pt x="1344930" y="232410"/>
                  </a:cubicBezTo>
                  <a:cubicBezTo>
                    <a:pt x="1339850" y="228600"/>
                    <a:pt x="1333500" y="226060"/>
                    <a:pt x="1327150" y="224790"/>
                  </a:cubicBezTo>
                  <a:cubicBezTo>
                    <a:pt x="1322070" y="223520"/>
                    <a:pt x="1316990" y="220980"/>
                    <a:pt x="1311910" y="218440"/>
                  </a:cubicBezTo>
                  <a:cubicBezTo>
                    <a:pt x="1309370" y="217170"/>
                    <a:pt x="1306830" y="218440"/>
                    <a:pt x="1304290" y="218440"/>
                  </a:cubicBezTo>
                  <a:cubicBezTo>
                    <a:pt x="1301750" y="218440"/>
                    <a:pt x="1300480" y="219710"/>
                    <a:pt x="1297940" y="219710"/>
                  </a:cubicBezTo>
                  <a:cubicBezTo>
                    <a:pt x="1290320" y="220980"/>
                    <a:pt x="1282700" y="223520"/>
                    <a:pt x="1276350" y="222250"/>
                  </a:cubicBezTo>
                  <a:cubicBezTo>
                    <a:pt x="1267460" y="219710"/>
                    <a:pt x="1258570" y="220980"/>
                    <a:pt x="1250950" y="215900"/>
                  </a:cubicBezTo>
                  <a:cubicBezTo>
                    <a:pt x="1247140" y="213360"/>
                    <a:pt x="1245870" y="215900"/>
                    <a:pt x="1243330" y="215900"/>
                  </a:cubicBezTo>
                  <a:cubicBezTo>
                    <a:pt x="1242060" y="215900"/>
                    <a:pt x="1240790" y="215900"/>
                    <a:pt x="1238250" y="217170"/>
                  </a:cubicBezTo>
                  <a:cubicBezTo>
                    <a:pt x="1236980" y="220980"/>
                    <a:pt x="1231900" y="223520"/>
                    <a:pt x="1225550" y="220980"/>
                  </a:cubicBezTo>
                  <a:cubicBezTo>
                    <a:pt x="1221740" y="219710"/>
                    <a:pt x="1219200" y="219710"/>
                    <a:pt x="1215390" y="220980"/>
                  </a:cubicBezTo>
                  <a:cubicBezTo>
                    <a:pt x="1211580" y="222250"/>
                    <a:pt x="1207770" y="222250"/>
                    <a:pt x="1202690" y="223520"/>
                  </a:cubicBezTo>
                  <a:lnTo>
                    <a:pt x="1201420" y="223520"/>
                  </a:lnTo>
                  <a:cubicBezTo>
                    <a:pt x="1191260" y="229870"/>
                    <a:pt x="1181100" y="224790"/>
                    <a:pt x="1169670" y="224790"/>
                  </a:cubicBezTo>
                  <a:lnTo>
                    <a:pt x="1163320" y="224790"/>
                  </a:lnTo>
                  <a:cubicBezTo>
                    <a:pt x="1155700" y="226060"/>
                    <a:pt x="1151890" y="219710"/>
                    <a:pt x="1146810" y="215900"/>
                  </a:cubicBezTo>
                  <a:cubicBezTo>
                    <a:pt x="1141730" y="212090"/>
                    <a:pt x="1136650" y="207010"/>
                    <a:pt x="1131570" y="204470"/>
                  </a:cubicBezTo>
                  <a:cubicBezTo>
                    <a:pt x="1130300" y="203200"/>
                    <a:pt x="1126490" y="204470"/>
                    <a:pt x="1123950" y="204470"/>
                  </a:cubicBezTo>
                  <a:lnTo>
                    <a:pt x="1112520" y="204470"/>
                  </a:lnTo>
                  <a:lnTo>
                    <a:pt x="1111250" y="203200"/>
                  </a:lnTo>
                  <a:cubicBezTo>
                    <a:pt x="1102360" y="205740"/>
                    <a:pt x="1097280" y="200660"/>
                    <a:pt x="1090930" y="195580"/>
                  </a:cubicBezTo>
                  <a:cubicBezTo>
                    <a:pt x="1087120" y="193040"/>
                    <a:pt x="1082040" y="190500"/>
                    <a:pt x="1078230" y="189230"/>
                  </a:cubicBezTo>
                  <a:cubicBezTo>
                    <a:pt x="1073150" y="186690"/>
                    <a:pt x="1066800" y="185420"/>
                    <a:pt x="1064260" y="179070"/>
                  </a:cubicBezTo>
                  <a:cubicBezTo>
                    <a:pt x="1062990" y="176530"/>
                    <a:pt x="1060450" y="176530"/>
                    <a:pt x="1059180" y="173990"/>
                  </a:cubicBezTo>
                  <a:cubicBezTo>
                    <a:pt x="1057910" y="171450"/>
                    <a:pt x="1056640" y="168910"/>
                    <a:pt x="1056640" y="167640"/>
                  </a:cubicBezTo>
                  <a:cubicBezTo>
                    <a:pt x="1056640" y="165100"/>
                    <a:pt x="1057910" y="162560"/>
                    <a:pt x="1059180" y="160020"/>
                  </a:cubicBezTo>
                  <a:cubicBezTo>
                    <a:pt x="1060450" y="156210"/>
                    <a:pt x="1057910" y="152400"/>
                    <a:pt x="1054100" y="149860"/>
                  </a:cubicBezTo>
                  <a:cubicBezTo>
                    <a:pt x="1052830" y="148590"/>
                    <a:pt x="1050290" y="148590"/>
                    <a:pt x="1050290" y="147320"/>
                  </a:cubicBezTo>
                  <a:cubicBezTo>
                    <a:pt x="1047750" y="139700"/>
                    <a:pt x="1041400" y="137160"/>
                    <a:pt x="1036320" y="130810"/>
                  </a:cubicBezTo>
                  <a:cubicBezTo>
                    <a:pt x="1032510" y="127000"/>
                    <a:pt x="1029970" y="121920"/>
                    <a:pt x="1027430" y="116840"/>
                  </a:cubicBezTo>
                  <a:cubicBezTo>
                    <a:pt x="1024890" y="114300"/>
                    <a:pt x="1023620" y="111760"/>
                    <a:pt x="1019810" y="109220"/>
                  </a:cubicBezTo>
                  <a:cubicBezTo>
                    <a:pt x="1010920" y="105410"/>
                    <a:pt x="1002030" y="101600"/>
                    <a:pt x="993140" y="96520"/>
                  </a:cubicBezTo>
                  <a:cubicBezTo>
                    <a:pt x="993140" y="106680"/>
                    <a:pt x="990600" y="104140"/>
                    <a:pt x="989330" y="101600"/>
                  </a:cubicBezTo>
                  <a:cubicBezTo>
                    <a:pt x="989330" y="97790"/>
                    <a:pt x="986790" y="96520"/>
                    <a:pt x="982980" y="96520"/>
                  </a:cubicBezTo>
                  <a:cubicBezTo>
                    <a:pt x="982980" y="96520"/>
                    <a:pt x="981710" y="96520"/>
                    <a:pt x="981710" y="95250"/>
                  </a:cubicBezTo>
                  <a:cubicBezTo>
                    <a:pt x="980440" y="87630"/>
                    <a:pt x="974090" y="90170"/>
                    <a:pt x="970280" y="88900"/>
                  </a:cubicBezTo>
                  <a:cubicBezTo>
                    <a:pt x="967740" y="87630"/>
                    <a:pt x="965200" y="86360"/>
                    <a:pt x="962660" y="87630"/>
                  </a:cubicBezTo>
                  <a:cubicBezTo>
                    <a:pt x="957580" y="88900"/>
                    <a:pt x="953770" y="85090"/>
                    <a:pt x="948690" y="83820"/>
                  </a:cubicBezTo>
                  <a:cubicBezTo>
                    <a:pt x="947420" y="83820"/>
                    <a:pt x="946150" y="83820"/>
                    <a:pt x="944880" y="85090"/>
                  </a:cubicBezTo>
                  <a:cubicBezTo>
                    <a:pt x="942340" y="87630"/>
                    <a:pt x="939800" y="87630"/>
                    <a:pt x="935990" y="85090"/>
                  </a:cubicBezTo>
                  <a:cubicBezTo>
                    <a:pt x="930910" y="81280"/>
                    <a:pt x="925830" y="81280"/>
                    <a:pt x="919480" y="83820"/>
                  </a:cubicBezTo>
                  <a:cubicBezTo>
                    <a:pt x="916940" y="85090"/>
                    <a:pt x="914400" y="85090"/>
                    <a:pt x="911860" y="83820"/>
                  </a:cubicBezTo>
                  <a:cubicBezTo>
                    <a:pt x="906780" y="81280"/>
                    <a:pt x="901700" y="77470"/>
                    <a:pt x="895350" y="74930"/>
                  </a:cubicBezTo>
                  <a:cubicBezTo>
                    <a:pt x="894080" y="74930"/>
                    <a:pt x="892810" y="73660"/>
                    <a:pt x="891540" y="73660"/>
                  </a:cubicBezTo>
                  <a:cubicBezTo>
                    <a:pt x="883920" y="74930"/>
                    <a:pt x="877570" y="72390"/>
                    <a:pt x="869950" y="74930"/>
                  </a:cubicBezTo>
                  <a:cubicBezTo>
                    <a:pt x="866140" y="76200"/>
                    <a:pt x="861060" y="76200"/>
                    <a:pt x="858520" y="81280"/>
                  </a:cubicBezTo>
                  <a:cubicBezTo>
                    <a:pt x="857250" y="82550"/>
                    <a:pt x="853440" y="82550"/>
                    <a:pt x="850900" y="83820"/>
                  </a:cubicBezTo>
                  <a:cubicBezTo>
                    <a:pt x="844550" y="85090"/>
                    <a:pt x="838200" y="86360"/>
                    <a:pt x="831850" y="83820"/>
                  </a:cubicBezTo>
                  <a:cubicBezTo>
                    <a:pt x="826770" y="81280"/>
                    <a:pt x="820420" y="82550"/>
                    <a:pt x="815340" y="81280"/>
                  </a:cubicBezTo>
                  <a:cubicBezTo>
                    <a:pt x="811530" y="80010"/>
                    <a:pt x="808990" y="77470"/>
                    <a:pt x="806450" y="76200"/>
                  </a:cubicBezTo>
                  <a:cubicBezTo>
                    <a:pt x="805180" y="74930"/>
                    <a:pt x="803910" y="73660"/>
                    <a:pt x="802640" y="73660"/>
                  </a:cubicBezTo>
                  <a:cubicBezTo>
                    <a:pt x="795020" y="71120"/>
                    <a:pt x="788670" y="66040"/>
                    <a:pt x="784860" y="59690"/>
                  </a:cubicBezTo>
                  <a:cubicBezTo>
                    <a:pt x="782320" y="55880"/>
                    <a:pt x="778510" y="52070"/>
                    <a:pt x="775970" y="48260"/>
                  </a:cubicBezTo>
                  <a:cubicBezTo>
                    <a:pt x="767080" y="45720"/>
                    <a:pt x="768350" y="35560"/>
                    <a:pt x="763270" y="30480"/>
                  </a:cubicBezTo>
                  <a:cubicBezTo>
                    <a:pt x="759460" y="25400"/>
                    <a:pt x="755650" y="22860"/>
                    <a:pt x="749300" y="21590"/>
                  </a:cubicBezTo>
                  <a:lnTo>
                    <a:pt x="748030" y="21590"/>
                  </a:lnTo>
                  <a:cubicBezTo>
                    <a:pt x="741680" y="16510"/>
                    <a:pt x="735330" y="20320"/>
                    <a:pt x="727710" y="20320"/>
                  </a:cubicBezTo>
                  <a:cubicBezTo>
                    <a:pt x="725170" y="20320"/>
                    <a:pt x="721360" y="17780"/>
                    <a:pt x="718820" y="16510"/>
                  </a:cubicBezTo>
                  <a:cubicBezTo>
                    <a:pt x="717550" y="13970"/>
                    <a:pt x="716280" y="12700"/>
                    <a:pt x="715010" y="12700"/>
                  </a:cubicBezTo>
                  <a:cubicBezTo>
                    <a:pt x="707390" y="11430"/>
                    <a:pt x="701040" y="6350"/>
                    <a:pt x="694690" y="0"/>
                  </a:cubicBezTo>
                  <a:cubicBezTo>
                    <a:pt x="692150" y="1270"/>
                    <a:pt x="689610" y="2540"/>
                    <a:pt x="687070" y="2540"/>
                  </a:cubicBezTo>
                  <a:cubicBezTo>
                    <a:pt x="684530" y="3810"/>
                    <a:pt x="680720" y="3810"/>
                    <a:pt x="676910" y="3810"/>
                  </a:cubicBezTo>
                  <a:cubicBezTo>
                    <a:pt x="671830" y="2540"/>
                    <a:pt x="666750" y="3810"/>
                    <a:pt x="661670" y="7620"/>
                  </a:cubicBezTo>
                  <a:cubicBezTo>
                    <a:pt x="659130" y="8890"/>
                    <a:pt x="657860" y="10160"/>
                    <a:pt x="655320" y="11430"/>
                  </a:cubicBezTo>
                  <a:cubicBezTo>
                    <a:pt x="652780" y="12700"/>
                    <a:pt x="651510" y="15240"/>
                    <a:pt x="648970" y="16510"/>
                  </a:cubicBezTo>
                  <a:cubicBezTo>
                    <a:pt x="647700" y="17780"/>
                    <a:pt x="645160" y="17780"/>
                    <a:pt x="643890" y="19050"/>
                  </a:cubicBezTo>
                  <a:lnTo>
                    <a:pt x="636270" y="22860"/>
                  </a:lnTo>
                  <a:cubicBezTo>
                    <a:pt x="636270" y="22860"/>
                    <a:pt x="635000" y="24130"/>
                    <a:pt x="635000" y="22860"/>
                  </a:cubicBezTo>
                  <a:cubicBezTo>
                    <a:pt x="629920" y="20320"/>
                    <a:pt x="626110" y="25400"/>
                    <a:pt x="622300" y="27940"/>
                  </a:cubicBezTo>
                  <a:cubicBezTo>
                    <a:pt x="618490" y="30480"/>
                    <a:pt x="613410" y="30480"/>
                    <a:pt x="609600" y="33020"/>
                  </a:cubicBezTo>
                  <a:lnTo>
                    <a:pt x="608330" y="33020"/>
                  </a:lnTo>
                  <a:cubicBezTo>
                    <a:pt x="601980" y="34290"/>
                    <a:pt x="595630" y="36830"/>
                    <a:pt x="589280" y="38100"/>
                  </a:cubicBezTo>
                  <a:cubicBezTo>
                    <a:pt x="586740" y="38100"/>
                    <a:pt x="585470" y="39370"/>
                    <a:pt x="582930" y="40640"/>
                  </a:cubicBezTo>
                  <a:cubicBezTo>
                    <a:pt x="579120" y="41910"/>
                    <a:pt x="575310" y="44450"/>
                    <a:pt x="571500" y="45720"/>
                  </a:cubicBezTo>
                  <a:cubicBezTo>
                    <a:pt x="568960" y="46990"/>
                    <a:pt x="565150" y="48260"/>
                    <a:pt x="562610" y="49530"/>
                  </a:cubicBezTo>
                  <a:lnTo>
                    <a:pt x="558800" y="49530"/>
                  </a:lnTo>
                  <a:cubicBezTo>
                    <a:pt x="558800" y="49530"/>
                    <a:pt x="556260" y="49530"/>
                    <a:pt x="554990" y="52070"/>
                  </a:cubicBezTo>
                  <a:cubicBezTo>
                    <a:pt x="549910" y="49530"/>
                    <a:pt x="543560" y="48260"/>
                    <a:pt x="538480" y="45720"/>
                  </a:cubicBezTo>
                  <a:cubicBezTo>
                    <a:pt x="534670" y="44450"/>
                    <a:pt x="525780" y="46990"/>
                    <a:pt x="523240" y="50800"/>
                  </a:cubicBezTo>
                  <a:cubicBezTo>
                    <a:pt x="521970" y="52070"/>
                    <a:pt x="520700" y="53340"/>
                    <a:pt x="519430" y="53340"/>
                  </a:cubicBezTo>
                  <a:cubicBezTo>
                    <a:pt x="518160" y="53340"/>
                    <a:pt x="515620" y="52070"/>
                    <a:pt x="514350" y="52070"/>
                  </a:cubicBezTo>
                  <a:cubicBezTo>
                    <a:pt x="513080" y="52070"/>
                    <a:pt x="511810" y="53340"/>
                    <a:pt x="509270" y="53340"/>
                  </a:cubicBezTo>
                  <a:cubicBezTo>
                    <a:pt x="509270" y="54610"/>
                    <a:pt x="510540" y="55880"/>
                    <a:pt x="510540" y="57150"/>
                  </a:cubicBezTo>
                  <a:cubicBezTo>
                    <a:pt x="506730" y="58420"/>
                    <a:pt x="500380" y="68580"/>
                    <a:pt x="500380" y="73660"/>
                  </a:cubicBezTo>
                  <a:cubicBezTo>
                    <a:pt x="494030" y="76200"/>
                    <a:pt x="486410" y="77470"/>
                    <a:pt x="483870" y="85090"/>
                  </a:cubicBezTo>
                  <a:cubicBezTo>
                    <a:pt x="483870" y="86360"/>
                    <a:pt x="482600" y="86360"/>
                    <a:pt x="482600" y="87630"/>
                  </a:cubicBezTo>
                  <a:cubicBezTo>
                    <a:pt x="474980" y="88900"/>
                    <a:pt x="473710" y="96520"/>
                    <a:pt x="469900" y="102870"/>
                  </a:cubicBezTo>
                  <a:lnTo>
                    <a:pt x="469900" y="105410"/>
                  </a:lnTo>
                  <a:cubicBezTo>
                    <a:pt x="468630" y="105410"/>
                    <a:pt x="467360" y="106680"/>
                    <a:pt x="466090" y="106680"/>
                  </a:cubicBezTo>
                  <a:cubicBezTo>
                    <a:pt x="461010" y="109220"/>
                    <a:pt x="458470" y="113030"/>
                    <a:pt x="457200" y="119380"/>
                  </a:cubicBezTo>
                  <a:cubicBezTo>
                    <a:pt x="455930" y="125730"/>
                    <a:pt x="455930" y="130810"/>
                    <a:pt x="454660" y="137160"/>
                  </a:cubicBezTo>
                  <a:cubicBezTo>
                    <a:pt x="452120" y="135890"/>
                    <a:pt x="448310" y="138430"/>
                    <a:pt x="447040" y="134620"/>
                  </a:cubicBezTo>
                  <a:lnTo>
                    <a:pt x="444500" y="134620"/>
                  </a:lnTo>
                  <a:cubicBezTo>
                    <a:pt x="440690" y="139700"/>
                    <a:pt x="436880" y="144780"/>
                    <a:pt x="433070" y="148590"/>
                  </a:cubicBezTo>
                  <a:cubicBezTo>
                    <a:pt x="429260" y="151130"/>
                    <a:pt x="425450" y="152400"/>
                    <a:pt x="420370" y="154940"/>
                  </a:cubicBezTo>
                  <a:lnTo>
                    <a:pt x="420370" y="157480"/>
                  </a:lnTo>
                  <a:cubicBezTo>
                    <a:pt x="415290" y="156210"/>
                    <a:pt x="411480" y="154940"/>
                    <a:pt x="407670" y="152400"/>
                  </a:cubicBezTo>
                  <a:cubicBezTo>
                    <a:pt x="406400" y="152400"/>
                    <a:pt x="405130" y="151130"/>
                    <a:pt x="405130" y="151130"/>
                  </a:cubicBezTo>
                  <a:cubicBezTo>
                    <a:pt x="403860" y="151130"/>
                    <a:pt x="403860" y="149860"/>
                    <a:pt x="403860" y="149860"/>
                  </a:cubicBezTo>
                  <a:cubicBezTo>
                    <a:pt x="402590" y="149860"/>
                    <a:pt x="402590" y="151130"/>
                    <a:pt x="402590" y="152400"/>
                  </a:cubicBezTo>
                  <a:cubicBezTo>
                    <a:pt x="402590" y="157480"/>
                    <a:pt x="400050" y="156210"/>
                    <a:pt x="397510" y="154940"/>
                  </a:cubicBezTo>
                  <a:cubicBezTo>
                    <a:pt x="394970" y="153670"/>
                    <a:pt x="392430" y="153670"/>
                    <a:pt x="391160" y="157480"/>
                  </a:cubicBezTo>
                  <a:cubicBezTo>
                    <a:pt x="391160" y="158750"/>
                    <a:pt x="389890" y="160020"/>
                    <a:pt x="388620" y="160020"/>
                  </a:cubicBezTo>
                  <a:cubicBezTo>
                    <a:pt x="384810" y="161290"/>
                    <a:pt x="381000" y="162560"/>
                    <a:pt x="379730" y="166370"/>
                  </a:cubicBezTo>
                  <a:cubicBezTo>
                    <a:pt x="378460" y="168910"/>
                    <a:pt x="377190" y="170180"/>
                    <a:pt x="374650" y="172720"/>
                  </a:cubicBezTo>
                  <a:lnTo>
                    <a:pt x="355600" y="172720"/>
                  </a:lnTo>
                  <a:cubicBezTo>
                    <a:pt x="353060" y="172720"/>
                    <a:pt x="350520" y="172720"/>
                    <a:pt x="347980" y="173990"/>
                  </a:cubicBezTo>
                  <a:cubicBezTo>
                    <a:pt x="345440" y="173990"/>
                    <a:pt x="342900" y="175260"/>
                    <a:pt x="339090" y="176530"/>
                  </a:cubicBezTo>
                  <a:cubicBezTo>
                    <a:pt x="336550" y="177800"/>
                    <a:pt x="332740" y="180340"/>
                    <a:pt x="330200" y="181610"/>
                  </a:cubicBezTo>
                  <a:cubicBezTo>
                    <a:pt x="328930" y="182880"/>
                    <a:pt x="327660" y="182880"/>
                    <a:pt x="326390" y="182880"/>
                  </a:cubicBezTo>
                  <a:cubicBezTo>
                    <a:pt x="320040" y="182880"/>
                    <a:pt x="316230" y="186690"/>
                    <a:pt x="312420" y="190500"/>
                  </a:cubicBezTo>
                  <a:cubicBezTo>
                    <a:pt x="308610" y="193040"/>
                    <a:pt x="306070" y="196850"/>
                    <a:pt x="302260" y="199390"/>
                  </a:cubicBezTo>
                  <a:cubicBezTo>
                    <a:pt x="299720" y="200660"/>
                    <a:pt x="297180" y="201930"/>
                    <a:pt x="295910" y="203200"/>
                  </a:cubicBezTo>
                  <a:cubicBezTo>
                    <a:pt x="293370" y="204470"/>
                    <a:pt x="292100" y="207010"/>
                    <a:pt x="289560" y="207010"/>
                  </a:cubicBezTo>
                  <a:cubicBezTo>
                    <a:pt x="287020" y="208280"/>
                    <a:pt x="283210" y="208280"/>
                    <a:pt x="280670" y="207010"/>
                  </a:cubicBezTo>
                  <a:cubicBezTo>
                    <a:pt x="276860" y="204470"/>
                    <a:pt x="273050" y="207010"/>
                    <a:pt x="270510" y="208280"/>
                  </a:cubicBezTo>
                  <a:cubicBezTo>
                    <a:pt x="266700" y="209550"/>
                    <a:pt x="264160" y="212090"/>
                    <a:pt x="261620" y="213360"/>
                  </a:cubicBezTo>
                  <a:cubicBezTo>
                    <a:pt x="262890" y="214630"/>
                    <a:pt x="262890" y="215900"/>
                    <a:pt x="264160" y="217170"/>
                  </a:cubicBezTo>
                  <a:lnTo>
                    <a:pt x="260350" y="217170"/>
                  </a:lnTo>
                  <a:cubicBezTo>
                    <a:pt x="260350" y="218440"/>
                    <a:pt x="259080" y="219710"/>
                    <a:pt x="259080" y="220980"/>
                  </a:cubicBezTo>
                  <a:cubicBezTo>
                    <a:pt x="257810" y="220980"/>
                    <a:pt x="256540" y="219710"/>
                    <a:pt x="256540" y="219710"/>
                  </a:cubicBezTo>
                  <a:cubicBezTo>
                    <a:pt x="252730" y="222250"/>
                    <a:pt x="248920" y="224790"/>
                    <a:pt x="245110" y="226060"/>
                  </a:cubicBezTo>
                  <a:cubicBezTo>
                    <a:pt x="243840" y="226060"/>
                    <a:pt x="242570" y="227330"/>
                    <a:pt x="242570" y="227330"/>
                  </a:cubicBezTo>
                  <a:cubicBezTo>
                    <a:pt x="237490" y="226060"/>
                    <a:pt x="231140" y="227330"/>
                    <a:pt x="227330" y="223520"/>
                  </a:cubicBezTo>
                  <a:cubicBezTo>
                    <a:pt x="224790" y="220980"/>
                    <a:pt x="220980" y="219710"/>
                    <a:pt x="218440" y="217170"/>
                  </a:cubicBezTo>
                  <a:cubicBezTo>
                    <a:pt x="214630" y="214630"/>
                    <a:pt x="209550" y="215900"/>
                    <a:pt x="205740" y="222250"/>
                  </a:cubicBezTo>
                  <a:lnTo>
                    <a:pt x="187960" y="204470"/>
                  </a:lnTo>
                  <a:cubicBezTo>
                    <a:pt x="186690" y="205740"/>
                    <a:pt x="184150" y="207010"/>
                    <a:pt x="182880" y="208280"/>
                  </a:cubicBezTo>
                  <a:cubicBezTo>
                    <a:pt x="181610" y="208280"/>
                    <a:pt x="181610" y="209550"/>
                    <a:pt x="180340" y="209550"/>
                  </a:cubicBezTo>
                  <a:cubicBezTo>
                    <a:pt x="175260" y="210820"/>
                    <a:pt x="170180" y="212090"/>
                    <a:pt x="163830" y="213360"/>
                  </a:cubicBezTo>
                  <a:cubicBezTo>
                    <a:pt x="160020" y="214630"/>
                    <a:pt x="157480" y="215900"/>
                    <a:pt x="157480" y="220980"/>
                  </a:cubicBezTo>
                  <a:cubicBezTo>
                    <a:pt x="152400" y="223520"/>
                    <a:pt x="147320" y="222250"/>
                    <a:pt x="143510" y="227330"/>
                  </a:cubicBezTo>
                  <a:lnTo>
                    <a:pt x="139700" y="227330"/>
                  </a:lnTo>
                  <a:cubicBezTo>
                    <a:pt x="132080" y="223520"/>
                    <a:pt x="125730" y="224790"/>
                    <a:pt x="120650" y="231140"/>
                  </a:cubicBezTo>
                  <a:cubicBezTo>
                    <a:pt x="119380" y="232410"/>
                    <a:pt x="118110" y="232410"/>
                    <a:pt x="115570" y="232410"/>
                  </a:cubicBezTo>
                  <a:cubicBezTo>
                    <a:pt x="109220" y="231140"/>
                    <a:pt x="104140" y="234950"/>
                    <a:pt x="99060" y="238760"/>
                  </a:cubicBezTo>
                  <a:cubicBezTo>
                    <a:pt x="96520" y="241300"/>
                    <a:pt x="93980" y="242570"/>
                    <a:pt x="90170" y="242570"/>
                  </a:cubicBezTo>
                  <a:cubicBezTo>
                    <a:pt x="83820" y="243840"/>
                    <a:pt x="78740" y="243840"/>
                    <a:pt x="72390" y="243840"/>
                  </a:cubicBezTo>
                  <a:cubicBezTo>
                    <a:pt x="72390" y="243840"/>
                    <a:pt x="71120" y="243840"/>
                    <a:pt x="71120" y="245110"/>
                  </a:cubicBezTo>
                  <a:cubicBezTo>
                    <a:pt x="66040" y="251460"/>
                    <a:pt x="59690" y="251460"/>
                    <a:pt x="52070" y="251460"/>
                  </a:cubicBezTo>
                  <a:cubicBezTo>
                    <a:pt x="44450" y="251460"/>
                    <a:pt x="36830" y="252730"/>
                    <a:pt x="30480" y="259080"/>
                  </a:cubicBezTo>
                  <a:cubicBezTo>
                    <a:pt x="26670" y="262890"/>
                    <a:pt x="21590" y="265430"/>
                    <a:pt x="16510" y="269240"/>
                  </a:cubicBezTo>
                  <a:cubicBezTo>
                    <a:pt x="15240" y="269240"/>
                    <a:pt x="13970" y="270510"/>
                    <a:pt x="13970" y="270510"/>
                  </a:cubicBezTo>
                  <a:cubicBezTo>
                    <a:pt x="10160" y="270510"/>
                    <a:pt x="5080" y="269240"/>
                    <a:pt x="1270" y="269240"/>
                  </a:cubicBezTo>
                  <a:cubicBezTo>
                    <a:pt x="0" y="284480"/>
                    <a:pt x="2540" y="300990"/>
                    <a:pt x="3810" y="317500"/>
                  </a:cubicBezTo>
                  <a:close/>
                </a:path>
              </a:pathLst>
            </a:custGeom>
            <a:blipFill>
              <a:blip r:embed="rId3"/>
              <a:stretch>
                <a:fillRect l="-15958" t="0" r="-38894" b="0"/>
              </a:stretch>
            </a:blipFill>
          </p:spPr>
        </p:sp>
      </p:grpSp>
      <p:sp>
        <p:nvSpPr>
          <p:cNvPr name="TextBox 8" id="8"/>
          <p:cNvSpPr txBox="true"/>
          <p:nvPr/>
        </p:nvSpPr>
        <p:spPr>
          <a:xfrm rot="0">
            <a:off x="9532663" y="3841762"/>
            <a:ext cx="7343442" cy="3817746"/>
          </a:xfrm>
          <a:prstGeom prst="rect">
            <a:avLst/>
          </a:prstGeom>
        </p:spPr>
        <p:txBody>
          <a:bodyPr anchor="t" rtlCol="false" tIns="0" lIns="0" bIns="0" rIns="0">
            <a:spAutoFit/>
          </a:bodyPr>
          <a:lstStyle/>
          <a:p>
            <a:pPr algn="l">
              <a:lnSpc>
                <a:spcPts val="4288"/>
              </a:lnSpc>
              <a:spcBef>
                <a:spcPct val="0"/>
              </a:spcBef>
            </a:pPr>
            <a:r>
              <a:rPr lang="en-US" sz="3063">
                <a:solidFill>
                  <a:srgbClr val="000000"/>
                </a:solidFill>
                <a:latin typeface="Poppins"/>
                <a:ea typeface="Poppins"/>
                <a:cs typeface="Poppins"/>
                <a:sym typeface="Poppins"/>
              </a:rPr>
              <a:t>THE NOVEL “THE GRAPES OF WRATH” (1939) IS CONSIDERED THE WRITER’S MASTERPIECE AND A PART OF THE AMERICAN LITERARY CANON. BY THE 75TH ANNIVERSARY OF ITS PUBLICATION, THE BOOK HAD SOLD 14 MILLION COPIES.</a:t>
            </a:r>
          </a:p>
        </p:txBody>
      </p:sp>
      <p:sp>
        <p:nvSpPr>
          <p:cNvPr name="TextBox 9" id="9"/>
          <p:cNvSpPr txBox="true"/>
          <p:nvPr/>
        </p:nvSpPr>
        <p:spPr>
          <a:xfrm rot="0">
            <a:off x="10521243" y="1384988"/>
            <a:ext cx="4744870" cy="1592194"/>
          </a:xfrm>
          <a:prstGeom prst="rect">
            <a:avLst/>
          </a:prstGeom>
        </p:spPr>
        <p:txBody>
          <a:bodyPr anchor="t" rtlCol="false" tIns="0" lIns="0" bIns="0" rIns="0">
            <a:spAutoFit/>
          </a:bodyPr>
          <a:lstStyle/>
          <a:p>
            <a:pPr algn="l">
              <a:lnSpc>
                <a:spcPts val="6376"/>
              </a:lnSpc>
              <a:spcBef>
                <a:spcPct val="0"/>
              </a:spcBef>
            </a:pPr>
            <a:r>
              <a:rPr lang="en-US" sz="4554">
                <a:solidFill>
                  <a:srgbClr val="000000"/>
                </a:solidFill>
                <a:latin typeface="League Spartan"/>
                <a:ea typeface="League Spartan"/>
                <a:cs typeface="League Spartan"/>
                <a:sym typeface="League Spartan"/>
              </a:rPr>
              <a:t>THE GRAPES OF WRATH</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10465719" y="9722143"/>
            <a:ext cx="8262217" cy="1263065"/>
            <a:chOff x="0" y="0"/>
            <a:chExt cx="2176057" cy="332659"/>
          </a:xfrm>
        </p:grpSpPr>
        <p:sp>
          <p:nvSpPr>
            <p:cNvPr name="Freeform 4" id="4"/>
            <p:cNvSpPr/>
            <p:nvPr/>
          </p:nvSpPr>
          <p:spPr>
            <a:xfrm flipH="false" flipV="false" rot="0">
              <a:off x="0" y="0"/>
              <a:ext cx="2176057" cy="332659"/>
            </a:xfrm>
            <a:custGeom>
              <a:avLst/>
              <a:gdLst/>
              <a:ahLst/>
              <a:cxnLst/>
              <a:rect r="r" b="b" t="t" l="l"/>
              <a:pathLst>
                <a:path h="332659" w="2176057">
                  <a:moveTo>
                    <a:pt x="47788" y="0"/>
                  </a:moveTo>
                  <a:lnTo>
                    <a:pt x="2128269" y="0"/>
                  </a:lnTo>
                  <a:cubicBezTo>
                    <a:pt x="2154662" y="0"/>
                    <a:pt x="2176057" y="21396"/>
                    <a:pt x="2176057" y="47788"/>
                  </a:cubicBezTo>
                  <a:lnTo>
                    <a:pt x="2176057" y="284871"/>
                  </a:lnTo>
                  <a:cubicBezTo>
                    <a:pt x="2176057" y="311263"/>
                    <a:pt x="2154662" y="332659"/>
                    <a:pt x="2128269" y="332659"/>
                  </a:cubicBezTo>
                  <a:lnTo>
                    <a:pt x="47788" y="332659"/>
                  </a:lnTo>
                  <a:cubicBezTo>
                    <a:pt x="21396" y="332659"/>
                    <a:pt x="0" y="311263"/>
                    <a:pt x="0" y="284871"/>
                  </a:cubicBezTo>
                  <a:lnTo>
                    <a:pt x="0" y="47788"/>
                  </a:lnTo>
                  <a:cubicBezTo>
                    <a:pt x="0" y="21396"/>
                    <a:pt x="21396" y="0"/>
                    <a:pt x="47788" y="0"/>
                  </a:cubicBezTo>
                  <a:close/>
                </a:path>
              </a:pathLst>
            </a:custGeom>
            <a:gradFill rotWithShape="true">
              <a:gsLst>
                <a:gs pos="0">
                  <a:srgbClr val="000000">
                    <a:alpha val="100000"/>
                  </a:srgbClr>
                </a:gs>
                <a:gs pos="100000">
                  <a:srgbClr val="737373">
                    <a:alpha val="100000"/>
                  </a:srgbClr>
                </a:gs>
              </a:gsLst>
              <a:lin ang="0"/>
            </a:gradFill>
          </p:spPr>
        </p:sp>
        <p:sp>
          <p:nvSpPr>
            <p:cNvPr name="TextBox 5" id="5"/>
            <p:cNvSpPr txBox="true"/>
            <p:nvPr/>
          </p:nvSpPr>
          <p:spPr>
            <a:xfrm>
              <a:off x="0" y="-47625"/>
              <a:ext cx="2176057" cy="380284"/>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79549" y="5303013"/>
            <a:ext cx="7031709" cy="3955287"/>
            <a:chOff x="0" y="0"/>
            <a:chExt cx="11289030" cy="6350000"/>
          </a:xfrm>
        </p:grpSpPr>
        <p:sp>
          <p:nvSpPr>
            <p:cNvPr name="Freeform 7" id="7"/>
            <p:cNvSpPr/>
            <p:nvPr/>
          </p:nvSpPr>
          <p:spPr>
            <a:xfrm flipH="false" flipV="false" rot="0">
              <a:off x="0" y="0"/>
              <a:ext cx="11287760" cy="6350000"/>
            </a:xfrm>
            <a:custGeom>
              <a:avLst/>
              <a:gdLst/>
              <a:ahLst/>
              <a:cxnLst/>
              <a:rect r="r" b="b" t="t" l="l"/>
              <a:pathLst>
                <a:path h="6350000" w="11287760">
                  <a:moveTo>
                    <a:pt x="0" y="5824220"/>
                  </a:moveTo>
                  <a:lnTo>
                    <a:pt x="0" y="525780"/>
                  </a:lnTo>
                  <a:cubicBezTo>
                    <a:pt x="0" y="234950"/>
                    <a:pt x="234950" y="0"/>
                    <a:pt x="525780" y="0"/>
                  </a:cubicBezTo>
                  <a:lnTo>
                    <a:pt x="10761980" y="0"/>
                  </a:lnTo>
                  <a:cubicBezTo>
                    <a:pt x="11052810" y="0"/>
                    <a:pt x="11287760" y="234950"/>
                    <a:pt x="11287760" y="525780"/>
                  </a:cubicBezTo>
                  <a:lnTo>
                    <a:pt x="11287760" y="5822950"/>
                  </a:lnTo>
                  <a:cubicBezTo>
                    <a:pt x="11287760" y="6113780"/>
                    <a:pt x="11052810" y="6348730"/>
                    <a:pt x="10761980" y="6348730"/>
                  </a:cubicBezTo>
                  <a:lnTo>
                    <a:pt x="525780" y="6348730"/>
                  </a:lnTo>
                  <a:cubicBezTo>
                    <a:pt x="236220" y="6350000"/>
                    <a:pt x="0" y="6115050"/>
                    <a:pt x="0" y="5824220"/>
                  </a:cubicBezTo>
                  <a:close/>
                </a:path>
              </a:pathLst>
            </a:custGeom>
            <a:blipFill>
              <a:blip r:embed="rId3"/>
              <a:stretch>
                <a:fillRect l="0" t="-4" r="0" b="-4"/>
              </a:stretch>
            </a:blipFill>
          </p:spPr>
        </p:sp>
      </p:grpSp>
      <p:grpSp>
        <p:nvGrpSpPr>
          <p:cNvPr name="Group 8" id="8"/>
          <p:cNvGrpSpPr/>
          <p:nvPr/>
        </p:nvGrpSpPr>
        <p:grpSpPr>
          <a:xfrm rot="0">
            <a:off x="9859234" y="5555088"/>
            <a:ext cx="6916711" cy="3703212"/>
            <a:chOff x="0" y="0"/>
            <a:chExt cx="11860274" cy="6350000"/>
          </a:xfrm>
        </p:grpSpPr>
        <p:sp>
          <p:nvSpPr>
            <p:cNvPr name="Freeform 9" id="9"/>
            <p:cNvSpPr/>
            <p:nvPr/>
          </p:nvSpPr>
          <p:spPr>
            <a:xfrm flipH="false" flipV="false" rot="0">
              <a:off x="0" y="0"/>
              <a:ext cx="11858940" cy="6350000"/>
            </a:xfrm>
            <a:custGeom>
              <a:avLst/>
              <a:gdLst/>
              <a:ahLst/>
              <a:cxnLst/>
              <a:rect r="r" b="b" t="t" l="l"/>
              <a:pathLst>
                <a:path h="6350000" w="11858940">
                  <a:moveTo>
                    <a:pt x="0" y="5824220"/>
                  </a:moveTo>
                  <a:lnTo>
                    <a:pt x="0" y="525780"/>
                  </a:lnTo>
                  <a:cubicBezTo>
                    <a:pt x="0" y="234950"/>
                    <a:pt x="246839" y="0"/>
                    <a:pt x="552385" y="0"/>
                  </a:cubicBezTo>
                  <a:lnTo>
                    <a:pt x="11306555" y="0"/>
                  </a:lnTo>
                  <a:cubicBezTo>
                    <a:pt x="11612101" y="0"/>
                    <a:pt x="11858940" y="234950"/>
                    <a:pt x="11858940" y="525780"/>
                  </a:cubicBezTo>
                  <a:lnTo>
                    <a:pt x="11858940" y="5822950"/>
                  </a:lnTo>
                  <a:cubicBezTo>
                    <a:pt x="11858940" y="6113780"/>
                    <a:pt x="11612101" y="6348730"/>
                    <a:pt x="11306555" y="6348730"/>
                  </a:cubicBezTo>
                  <a:lnTo>
                    <a:pt x="552385" y="6348730"/>
                  </a:lnTo>
                  <a:cubicBezTo>
                    <a:pt x="248173" y="6350000"/>
                    <a:pt x="0" y="6115050"/>
                    <a:pt x="0" y="5824220"/>
                  </a:cubicBezTo>
                  <a:close/>
                </a:path>
              </a:pathLst>
            </a:custGeom>
            <a:blipFill>
              <a:blip r:embed="rId4"/>
              <a:stretch>
                <a:fillRect l="0" t="-2535" r="0" b="-2535"/>
              </a:stretch>
            </a:blipFill>
          </p:spPr>
        </p:sp>
      </p:grpSp>
      <p:sp>
        <p:nvSpPr>
          <p:cNvPr name="TextBox 10" id="10"/>
          <p:cNvSpPr txBox="true"/>
          <p:nvPr/>
        </p:nvSpPr>
        <p:spPr>
          <a:xfrm rot="0">
            <a:off x="2772878" y="942975"/>
            <a:ext cx="3652270" cy="1093761"/>
          </a:xfrm>
          <a:prstGeom prst="rect">
            <a:avLst/>
          </a:prstGeom>
        </p:spPr>
        <p:txBody>
          <a:bodyPr anchor="t" rtlCol="false" tIns="0" lIns="0" bIns="0" rIns="0">
            <a:spAutoFit/>
          </a:bodyPr>
          <a:lstStyle/>
          <a:p>
            <a:pPr algn="just">
              <a:lnSpc>
                <a:spcPts val="4288"/>
              </a:lnSpc>
              <a:spcBef>
                <a:spcPct val="0"/>
              </a:spcBef>
            </a:pPr>
            <a:r>
              <a:rPr lang="en-US" sz="3063">
                <a:solidFill>
                  <a:srgbClr val="000000"/>
                </a:solidFill>
                <a:latin typeface="Poppins"/>
                <a:ea typeface="Poppins"/>
                <a:cs typeface="Poppins"/>
                <a:sym typeface="Poppins"/>
              </a:rPr>
              <a:t>THE PLOT OF THE NOVEL:</a:t>
            </a:r>
          </a:p>
        </p:txBody>
      </p:sp>
      <p:sp>
        <p:nvSpPr>
          <p:cNvPr name="TextBox 11" id="11"/>
          <p:cNvSpPr txBox="true"/>
          <p:nvPr/>
        </p:nvSpPr>
        <p:spPr>
          <a:xfrm rot="0">
            <a:off x="6425148" y="2385211"/>
            <a:ext cx="5037858" cy="1598815"/>
          </a:xfrm>
          <a:prstGeom prst="rect">
            <a:avLst/>
          </a:prstGeom>
        </p:spPr>
        <p:txBody>
          <a:bodyPr anchor="t" rtlCol="false" tIns="0" lIns="0" bIns="0" rIns="0">
            <a:spAutoFit/>
          </a:bodyPr>
          <a:lstStyle/>
          <a:p>
            <a:pPr algn="ctr">
              <a:lnSpc>
                <a:spcPts val="6376"/>
              </a:lnSpc>
              <a:spcBef>
                <a:spcPct val="0"/>
              </a:spcBef>
            </a:pPr>
            <a:r>
              <a:rPr lang="en-US" sz="4554">
                <a:solidFill>
                  <a:srgbClr val="000000"/>
                </a:solidFill>
                <a:latin typeface="League Spartan"/>
                <a:ea typeface="League Spartan"/>
                <a:cs typeface="League Spartan"/>
                <a:sym typeface="League Spartan"/>
              </a:rPr>
              <a:t>THE GRAPES OF WRATH</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570154" y="9722143"/>
            <a:ext cx="8262217" cy="1263065"/>
            <a:chOff x="0" y="0"/>
            <a:chExt cx="2176057" cy="332659"/>
          </a:xfrm>
        </p:grpSpPr>
        <p:sp>
          <p:nvSpPr>
            <p:cNvPr name="Freeform 4" id="4"/>
            <p:cNvSpPr/>
            <p:nvPr/>
          </p:nvSpPr>
          <p:spPr>
            <a:xfrm flipH="false" flipV="false" rot="0">
              <a:off x="0" y="0"/>
              <a:ext cx="2176057" cy="332659"/>
            </a:xfrm>
            <a:custGeom>
              <a:avLst/>
              <a:gdLst/>
              <a:ahLst/>
              <a:cxnLst/>
              <a:rect r="r" b="b" t="t" l="l"/>
              <a:pathLst>
                <a:path h="332659" w="2176057">
                  <a:moveTo>
                    <a:pt x="47788" y="0"/>
                  </a:moveTo>
                  <a:lnTo>
                    <a:pt x="2128269" y="0"/>
                  </a:lnTo>
                  <a:cubicBezTo>
                    <a:pt x="2154662" y="0"/>
                    <a:pt x="2176057" y="21396"/>
                    <a:pt x="2176057" y="47788"/>
                  </a:cubicBezTo>
                  <a:lnTo>
                    <a:pt x="2176057" y="284871"/>
                  </a:lnTo>
                  <a:cubicBezTo>
                    <a:pt x="2176057" y="311263"/>
                    <a:pt x="2154662" y="332659"/>
                    <a:pt x="2128269" y="332659"/>
                  </a:cubicBezTo>
                  <a:lnTo>
                    <a:pt x="47788" y="332659"/>
                  </a:lnTo>
                  <a:cubicBezTo>
                    <a:pt x="21396" y="332659"/>
                    <a:pt x="0" y="311263"/>
                    <a:pt x="0" y="284871"/>
                  </a:cubicBezTo>
                  <a:lnTo>
                    <a:pt x="0" y="47788"/>
                  </a:lnTo>
                  <a:cubicBezTo>
                    <a:pt x="0" y="21396"/>
                    <a:pt x="21396" y="0"/>
                    <a:pt x="47788" y="0"/>
                  </a:cubicBezTo>
                  <a:close/>
                </a:path>
              </a:pathLst>
            </a:custGeom>
            <a:gradFill rotWithShape="true">
              <a:gsLst>
                <a:gs pos="0">
                  <a:srgbClr val="000000">
                    <a:alpha val="100000"/>
                  </a:srgbClr>
                </a:gs>
                <a:gs pos="100000">
                  <a:srgbClr val="737373">
                    <a:alpha val="100000"/>
                  </a:srgbClr>
                </a:gs>
              </a:gsLst>
              <a:lin ang="0"/>
            </a:gradFill>
          </p:spPr>
        </p:sp>
        <p:sp>
          <p:nvSpPr>
            <p:cNvPr name="TextBox 5" id="5"/>
            <p:cNvSpPr txBox="true"/>
            <p:nvPr/>
          </p:nvSpPr>
          <p:spPr>
            <a:xfrm>
              <a:off x="0" y="-47625"/>
              <a:ext cx="2176057" cy="380284"/>
            </a:xfrm>
            <a:prstGeom prst="rect">
              <a:avLst/>
            </a:prstGeom>
          </p:spPr>
          <p:txBody>
            <a:bodyPr anchor="ctr" rtlCol="false" tIns="50800" lIns="50800" bIns="50800" rIns="50800"/>
            <a:lstStyle/>
            <a:p>
              <a:pPr algn="ctr">
                <a:lnSpc>
                  <a:spcPts val="2659"/>
                </a:lnSpc>
              </a:pPr>
            </a:p>
          </p:txBody>
        </p:sp>
      </p:grpSp>
      <p:grpSp>
        <p:nvGrpSpPr>
          <p:cNvPr name="Group 6" id="6"/>
          <p:cNvGrpSpPr>
            <a:grpSpLocks noChangeAspect="true"/>
          </p:cNvGrpSpPr>
          <p:nvPr/>
        </p:nvGrpSpPr>
        <p:grpSpPr>
          <a:xfrm rot="0">
            <a:off x="10836114" y="827609"/>
            <a:ext cx="6423186" cy="8631783"/>
            <a:chOff x="0" y="0"/>
            <a:chExt cx="3663950" cy="4923790"/>
          </a:xfrm>
        </p:grpSpPr>
        <p:sp>
          <p:nvSpPr>
            <p:cNvPr name="Freeform 7" id="7"/>
            <p:cNvSpPr/>
            <p:nvPr/>
          </p:nvSpPr>
          <p:spPr>
            <a:xfrm flipH="false" flipV="false" rot="0">
              <a:off x="31750" y="31750"/>
              <a:ext cx="3600450" cy="4859020"/>
            </a:xfrm>
            <a:custGeom>
              <a:avLst/>
              <a:gdLst/>
              <a:ahLst/>
              <a:cxnLst/>
              <a:rect r="r" b="b" t="t" l="l"/>
              <a:pathLst>
                <a:path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3"/>
              <a:stretch>
                <a:fillRect l="-17477" t="0" r="-17477" b="0"/>
              </a:stretch>
            </a:blipFill>
          </p:spPr>
        </p:sp>
        <p:sp>
          <p:nvSpPr>
            <p:cNvPr name="Freeform 8" id="8"/>
            <p:cNvSpPr/>
            <p:nvPr/>
          </p:nvSpPr>
          <p:spPr>
            <a:xfrm flipH="false" flipV="false" rot="0">
              <a:off x="0" y="0"/>
              <a:ext cx="3663950" cy="4923790"/>
            </a:xfrm>
            <a:custGeom>
              <a:avLst/>
              <a:gdLst/>
              <a:ahLst/>
              <a:cxnLst/>
              <a:rect r="r" b="b" t="t" l="l"/>
              <a:pathLst>
                <a:path h="4923790" w="3663950">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gradFill rotWithShape="true">
              <a:gsLst>
                <a:gs pos="0">
                  <a:srgbClr val="000000">
                    <a:alpha val="100000"/>
                  </a:srgbClr>
                </a:gs>
                <a:gs pos="100000">
                  <a:srgbClr val="737373">
                    <a:alpha val="100000"/>
                  </a:srgbClr>
                </a:gs>
              </a:gsLst>
              <a:lin ang="0"/>
            </a:gradFill>
          </p:spPr>
        </p:sp>
      </p:grpSp>
      <p:sp>
        <p:nvSpPr>
          <p:cNvPr name="TextBox 9" id="9"/>
          <p:cNvSpPr txBox="true"/>
          <p:nvPr/>
        </p:nvSpPr>
        <p:spPr>
          <a:xfrm rot="0">
            <a:off x="1028700" y="2643437"/>
            <a:ext cx="7357406" cy="5660512"/>
          </a:xfrm>
          <a:prstGeom prst="rect">
            <a:avLst/>
          </a:prstGeom>
        </p:spPr>
        <p:txBody>
          <a:bodyPr anchor="t" rtlCol="false" tIns="0" lIns="0" bIns="0" rIns="0">
            <a:spAutoFit/>
          </a:bodyPr>
          <a:lstStyle/>
          <a:p>
            <a:pPr algn="l" marL="625071" indent="-312535" lvl="1">
              <a:lnSpc>
                <a:spcPts val="4053"/>
              </a:lnSpc>
              <a:buFont typeface="Arial"/>
              <a:buChar char="•"/>
            </a:pPr>
            <a:r>
              <a:rPr lang="en-US" sz="2895">
                <a:solidFill>
                  <a:srgbClr val="000000"/>
                </a:solidFill>
                <a:latin typeface="Poppins"/>
                <a:ea typeface="Poppins"/>
                <a:cs typeface="Poppins"/>
                <a:sym typeface="Poppins"/>
              </a:rPr>
              <a:t>TOM JOAD – A STRONG YOUNG MAN WHO CHANGES AND WANTS TO HELP OTHERS.</a:t>
            </a:r>
          </a:p>
          <a:p>
            <a:pPr algn="l" marL="625071" indent="-312535" lvl="1">
              <a:lnSpc>
                <a:spcPts val="4053"/>
              </a:lnSpc>
              <a:buFont typeface="Arial"/>
              <a:buChar char="•"/>
            </a:pPr>
            <a:r>
              <a:rPr lang="en-US" sz="2895">
                <a:solidFill>
                  <a:srgbClr val="000000"/>
                </a:solidFill>
                <a:latin typeface="Poppins"/>
                <a:ea typeface="Poppins"/>
                <a:cs typeface="Poppins"/>
                <a:sym typeface="Poppins"/>
              </a:rPr>
              <a:t>Ma Joad – The mother, the heart of the family, calm and strong.</a:t>
            </a:r>
          </a:p>
          <a:p>
            <a:pPr algn="l" marL="625071" indent="-312535" lvl="1">
              <a:lnSpc>
                <a:spcPts val="4053"/>
              </a:lnSpc>
              <a:buFont typeface="Arial"/>
              <a:buChar char="•"/>
            </a:pPr>
            <a:r>
              <a:rPr lang="en-US" sz="2895">
                <a:solidFill>
                  <a:srgbClr val="000000"/>
                </a:solidFill>
                <a:latin typeface="Poppins"/>
                <a:ea typeface="Poppins"/>
                <a:cs typeface="Poppins"/>
                <a:sym typeface="Poppins"/>
              </a:rPr>
              <a:t>Jim Casy – A kind man who believes in helping people.</a:t>
            </a:r>
          </a:p>
          <a:p>
            <a:pPr algn="l" marL="625071" indent="-312535" lvl="1">
              <a:lnSpc>
                <a:spcPts val="4053"/>
              </a:lnSpc>
              <a:buFont typeface="Arial"/>
              <a:buChar char="•"/>
            </a:pPr>
            <a:r>
              <a:rPr lang="en-US" sz="2895">
                <a:solidFill>
                  <a:srgbClr val="000000"/>
                </a:solidFill>
                <a:latin typeface="Poppins"/>
                <a:ea typeface="Poppins"/>
                <a:cs typeface="Poppins"/>
                <a:sym typeface="Poppins"/>
              </a:rPr>
              <a:t>Rose of Sharon – A young woman who becomes a symbol of hope.</a:t>
            </a:r>
          </a:p>
          <a:p>
            <a:pPr algn="l">
              <a:lnSpc>
                <a:spcPts val="4053"/>
              </a:lnSpc>
              <a:spcBef>
                <a:spcPct val="0"/>
              </a:spcBef>
            </a:pPr>
          </a:p>
        </p:txBody>
      </p:sp>
      <p:sp>
        <p:nvSpPr>
          <p:cNvPr name="TextBox 10" id="10"/>
          <p:cNvSpPr txBox="true"/>
          <p:nvPr/>
        </p:nvSpPr>
        <p:spPr>
          <a:xfrm rot="0">
            <a:off x="2916494" y="1276115"/>
            <a:ext cx="6663364" cy="738398"/>
          </a:xfrm>
          <a:prstGeom prst="rect">
            <a:avLst/>
          </a:prstGeom>
        </p:spPr>
        <p:txBody>
          <a:bodyPr anchor="t" rtlCol="false" tIns="0" lIns="0" bIns="0" rIns="0">
            <a:spAutoFit/>
          </a:bodyPr>
          <a:lstStyle/>
          <a:p>
            <a:pPr algn="l">
              <a:lnSpc>
                <a:spcPts val="6025"/>
              </a:lnSpc>
              <a:spcBef>
                <a:spcPct val="0"/>
              </a:spcBef>
            </a:pPr>
            <a:r>
              <a:rPr lang="en-US" sz="4304">
                <a:solidFill>
                  <a:srgbClr val="000000"/>
                </a:solidFill>
                <a:latin typeface="League Spartan"/>
                <a:ea typeface="League Spartan"/>
                <a:cs typeface="League Spartan"/>
                <a:sym typeface="League Spartan"/>
              </a:rPr>
              <a:t>MAIN CHARACTERS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0" y="0"/>
            <a:ext cx="8099446" cy="10287000"/>
            <a:chOff x="0" y="0"/>
            <a:chExt cx="2133188" cy="2709333"/>
          </a:xfrm>
        </p:grpSpPr>
        <p:sp>
          <p:nvSpPr>
            <p:cNvPr name="Freeform 4" id="4"/>
            <p:cNvSpPr/>
            <p:nvPr/>
          </p:nvSpPr>
          <p:spPr>
            <a:xfrm flipH="false" flipV="false" rot="0">
              <a:off x="0" y="0"/>
              <a:ext cx="2133188" cy="2709333"/>
            </a:xfrm>
            <a:custGeom>
              <a:avLst/>
              <a:gdLst/>
              <a:ahLst/>
              <a:cxnLst/>
              <a:rect r="r" b="b" t="t" l="l"/>
              <a:pathLst>
                <a:path h="2709333" w="2133188">
                  <a:moveTo>
                    <a:pt x="0" y="0"/>
                  </a:moveTo>
                  <a:lnTo>
                    <a:pt x="2133188" y="0"/>
                  </a:lnTo>
                  <a:lnTo>
                    <a:pt x="2133188" y="2709333"/>
                  </a:lnTo>
                  <a:lnTo>
                    <a:pt x="0" y="2709333"/>
                  </a:lnTo>
                  <a:close/>
                </a:path>
              </a:pathLst>
            </a:custGeom>
            <a:gradFill rotWithShape="true">
              <a:gsLst>
                <a:gs pos="0">
                  <a:srgbClr val="000000">
                    <a:alpha val="100000"/>
                  </a:srgbClr>
                </a:gs>
                <a:gs pos="100000">
                  <a:srgbClr val="737373">
                    <a:alpha val="100000"/>
                  </a:srgbClr>
                </a:gs>
              </a:gsLst>
              <a:lin ang="0"/>
            </a:gradFill>
          </p:spPr>
        </p:sp>
        <p:sp>
          <p:nvSpPr>
            <p:cNvPr name="TextBox 5" id="5"/>
            <p:cNvSpPr txBox="true"/>
            <p:nvPr/>
          </p:nvSpPr>
          <p:spPr>
            <a:xfrm>
              <a:off x="0" y="-47625"/>
              <a:ext cx="2133188" cy="275695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570154" y="9722143"/>
            <a:ext cx="6639914" cy="1263065"/>
            <a:chOff x="0" y="0"/>
            <a:chExt cx="1748784" cy="332659"/>
          </a:xfrm>
        </p:grpSpPr>
        <p:sp>
          <p:nvSpPr>
            <p:cNvPr name="Freeform 7" id="7"/>
            <p:cNvSpPr/>
            <p:nvPr/>
          </p:nvSpPr>
          <p:spPr>
            <a:xfrm flipH="false" flipV="false" rot="0">
              <a:off x="0" y="0"/>
              <a:ext cx="1748784" cy="332659"/>
            </a:xfrm>
            <a:custGeom>
              <a:avLst/>
              <a:gdLst/>
              <a:ahLst/>
              <a:cxnLst/>
              <a:rect r="r" b="b" t="t" l="l"/>
              <a:pathLst>
                <a:path h="332659" w="1748784">
                  <a:moveTo>
                    <a:pt x="59464" y="0"/>
                  </a:moveTo>
                  <a:lnTo>
                    <a:pt x="1689320" y="0"/>
                  </a:lnTo>
                  <a:cubicBezTo>
                    <a:pt x="1705090" y="0"/>
                    <a:pt x="1720216" y="6265"/>
                    <a:pt x="1731367" y="17417"/>
                  </a:cubicBezTo>
                  <a:cubicBezTo>
                    <a:pt x="1742519" y="28568"/>
                    <a:pt x="1748784" y="43693"/>
                    <a:pt x="1748784" y="59464"/>
                  </a:cubicBezTo>
                  <a:lnTo>
                    <a:pt x="1748784" y="273195"/>
                  </a:lnTo>
                  <a:cubicBezTo>
                    <a:pt x="1748784" y="288966"/>
                    <a:pt x="1742519" y="304091"/>
                    <a:pt x="1731367" y="315242"/>
                  </a:cubicBezTo>
                  <a:cubicBezTo>
                    <a:pt x="1720216" y="326394"/>
                    <a:pt x="1705090" y="332659"/>
                    <a:pt x="1689320" y="332659"/>
                  </a:cubicBezTo>
                  <a:lnTo>
                    <a:pt x="59464" y="332659"/>
                  </a:lnTo>
                  <a:cubicBezTo>
                    <a:pt x="43693" y="332659"/>
                    <a:pt x="28568" y="326394"/>
                    <a:pt x="17417" y="315242"/>
                  </a:cubicBezTo>
                  <a:cubicBezTo>
                    <a:pt x="6265" y="304091"/>
                    <a:pt x="0" y="288966"/>
                    <a:pt x="0" y="273195"/>
                  </a:cubicBezTo>
                  <a:lnTo>
                    <a:pt x="0" y="59464"/>
                  </a:lnTo>
                  <a:cubicBezTo>
                    <a:pt x="0" y="43693"/>
                    <a:pt x="6265" y="28568"/>
                    <a:pt x="17417" y="17417"/>
                  </a:cubicBezTo>
                  <a:cubicBezTo>
                    <a:pt x="28568" y="6265"/>
                    <a:pt x="43693" y="0"/>
                    <a:pt x="59464" y="0"/>
                  </a:cubicBezTo>
                  <a:close/>
                </a:path>
              </a:pathLst>
            </a:custGeom>
            <a:solidFill>
              <a:srgbClr val="FFFFFF"/>
            </a:solidFill>
          </p:spPr>
        </p:sp>
        <p:sp>
          <p:nvSpPr>
            <p:cNvPr name="TextBox 8" id="8"/>
            <p:cNvSpPr txBox="true"/>
            <p:nvPr/>
          </p:nvSpPr>
          <p:spPr>
            <a:xfrm>
              <a:off x="0" y="-47625"/>
              <a:ext cx="1748784" cy="38028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8886841" y="1769214"/>
            <a:ext cx="514318" cy="6748573"/>
            <a:chOff x="0" y="0"/>
            <a:chExt cx="135458" cy="1777402"/>
          </a:xfrm>
        </p:grpSpPr>
        <p:sp>
          <p:nvSpPr>
            <p:cNvPr name="Freeform 10" id="10"/>
            <p:cNvSpPr/>
            <p:nvPr/>
          </p:nvSpPr>
          <p:spPr>
            <a:xfrm flipH="false" flipV="false" rot="0">
              <a:off x="0" y="0"/>
              <a:ext cx="135458" cy="1777402"/>
            </a:xfrm>
            <a:custGeom>
              <a:avLst/>
              <a:gdLst/>
              <a:ahLst/>
              <a:cxnLst/>
              <a:rect r="r" b="b" t="t" l="l"/>
              <a:pathLst>
                <a:path h="1777402" w="135458">
                  <a:moveTo>
                    <a:pt x="0" y="0"/>
                  </a:moveTo>
                  <a:lnTo>
                    <a:pt x="135458" y="0"/>
                  </a:lnTo>
                  <a:lnTo>
                    <a:pt x="135458" y="1777402"/>
                  </a:lnTo>
                  <a:lnTo>
                    <a:pt x="0" y="1777402"/>
                  </a:lnTo>
                  <a:close/>
                </a:path>
              </a:pathLst>
            </a:custGeom>
            <a:gradFill rotWithShape="true">
              <a:gsLst>
                <a:gs pos="0">
                  <a:srgbClr val="000000">
                    <a:alpha val="100000"/>
                  </a:srgbClr>
                </a:gs>
                <a:gs pos="100000">
                  <a:srgbClr val="737373">
                    <a:alpha val="100000"/>
                  </a:srgbClr>
                </a:gs>
              </a:gsLst>
              <a:lin ang="0"/>
            </a:gradFill>
          </p:spPr>
        </p:sp>
        <p:sp>
          <p:nvSpPr>
            <p:cNvPr name="TextBox 11" id="11"/>
            <p:cNvSpPr txBox="true"/>
            <p:nvPr/>
          </p:nvSpPr>
          <p:spPr>
            <a:xfrm>
              <a:off x="0" y="-47625"/>
              <a:ext cx="135458" cy="1825027"/>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9678776" y="1769214"/>
            <a:ext cx="8220561" cy="6579378"/>
          </a:xfrm>
          <a:custGeom>
            <a:avLst/>
            <a:gdLst/>
            <a:ahLst/>
            <a:cxnLst/>
            <a:rect r="r" b="b" t="t" l="l"/>
            <a:pathLst>
              <a:path h="6579378" w="8220561">
                <a:moveTo>
                  <a:pt x="0" y="0"/>
                </a:moveTo>
                <a:lnTo>
                  <a:pt x="8220561" y="0"/>
                </a:lnTo>
                <a:lnTo>
                  <a:pt x="8220561" y="6579378"/>
                </a:lnTo>
                <a:lnTo>
                  <a:pt x="0" y="6579378"/>
                </a:lnTo>
                <a:lnTo>
                  <a:pt x="0" y="0"/>
                </a:lnTo>
                <a:close/>
              </a:path>
            </a:pathLst>
          </a:custGeom>
          <a:blipFill>
            <a:blip r:embed="rId3"/>
            <a:stretch>
              <a:fillRect l="-22142" t="-742" r="0" b="-742"/>
            </a:stretch>
          </a:blipFill>
        </p:spPr>
      </p:sp>
      <p:sp>
        <p:nvSpPr>
          <p:cNvPr name="TextBox 13" id="13"/>
          <p:cNvSpPr txBox="true"/>
          <p:nvPr/>
        </p:nvSpPr>
        <p:spPr>
          <a:xfrm rot="0">
            <a:off x="1028700" y="1410536"/>
            <a:ext cx="5191692" cy="2262398"/>
          </a:xfrm>
          <a:prstGeom prst="rect">
            <a:avLst/>
          </a:prstGeom>
        </p:spPr>
        <p:txBody>
          <a:bodyPr anchor="t" rtlCol="false" tIns="0" lIns="0" bIns="0" rIns="0">
            <a:spAutoFit/>
          </a:bodyPr>
          <a:lstStyle/>
          <a:p>
            <a:pPr algn="l">
              <a:lnSpc>
                <a:spcPts val="6025"/>
              </a:lnSpc>
            </a:pPr>
            <a:r>
              <a:rPr lang="en-US" sz="4304">
                <a:solidFill>
                  <a:srgbClr val="FFFFFF"/>
                </a:solidFill>
                <a:latin typeface="League Spartan"/>
                <a:ea typeface="League Spartan"/>
                <a:cs typeface="League Spartan"/>
                <a:sym typeface="League Spartan"/>
              </a:rPr>
              <a:t>FACTS ABOUT THE BOOK</a:t>
            </a:r>
          </a:p>
          <a:p>
            <a:pPr algn="l">
              <a:lnSpc>
                <a:spcPts val="6025"/>
              </a:lnSpc>
              <a:spcBef>
                <a:spcPct val="0"/>
              </a:spcBef>
            </a:pPr>
          </a:p>
        </p:txBody>
      </p:sp>
      <p:sp>
        <p:nvSpPr>
          <p:cNvPr name="TextBox 14" id="14"/>
          <p:cNvSpPr txBox="true"/>
          <p:nvPr/>
        </p:nvSpPr>
        <p:spPr>
          <a:xfrm rot="0">
            <a:off x="1104016" y="3168432"/>
            <a:ext cx="5679579" cy="1281612"/>
          </a:xfrm>
          <a:prstGeom prst="rect">
            <a:avLst/>
          </a:prstGeom>
        </p:spPr>
        <p:txBody>
          <a:bodyPr anchor="t" rtlCol="false" tIns="0" lIns="0" bIns="0" rIns="0">
            <a:spAutoFit/>
          </a:bodyPr>
          <a:lstStyle/>
          <a:p>
            <a:pPr algn="l">
              <a:lnSpc>
                <a:spcPts val="2587"/>
              </a:lnSpc>
            </a:pPr>
            <a:r>
              <a:rPr lang="en-US" sz="1848">
                <a:solidFill>
                  <a:srgbClr val="FFFFFF"/>
                </a:solidFill>
                <a:latin typeface="Poppins"/>
                <a:ea typeface="Poppins"/>
                <a:cs typeface="Poppins"/>
                <a:sym typeface="Poppins"/>
              </a:rPr>
              <a:t>Some people loved the book, but others hated it.</a:t>
            </a:r>
          </a:p>
          <a:p>
            <a:pPr algn="l">
              <a:lnSpc>
                <a:spcPts val="2587"/>
              </a:lnSpc>
              <a:spcBef>
                <a:spcPct val="0"/>
              </a:spcBef>
            </a:pPr>
            <a:r>
              <a:rPr lang="en-US" sz="1848">
                <a:solidFill>
                  <a:srgbClr val="FFFFFF"/>
                </a:solidFill>
                <a:latin typeface="Poppins"/>
                <a:ea typeface="Poppins"/>
                <a:cs typeface="Poppins"/>
                <a:sym typeface="Poppins"/>
              </a:rPr>
              <a:t> Landowners and rich people were angry because the book talked about unfair work and poverty.</a:t>
            </a:r>
          </a:p>
        </p:txBody>
      </p:sp>
      <p:sp>
        <p:nvSpPr>
          <p:cNvPr name="TextBox 15" id="15"/>
          <p:cNvSpPr txBox="true"/>
          <p:nvPr/>
        </p:nvSpPr>
        <p:spPr>
          <a:xfrm rot="0">
            <a:off x="1104016" y="4943943"/>
            <a:ext cx="5041061" cy="961379"/>
          </a:xfrm>
          <a:prstGeom prst="rect">
            <a:avLst/>
          </a:prstGeom>
        </p:spPr>
        <p:txBody>
          <a:bodyPr anchor="t" rtlCol="false" tIns="0" lIns="0" bIns="0" rIns="0">
            <a:spAutoFit/>
          </a:bodyPr>
          <a:lstStyle/>
          <a:p>
            <a:pPr algn="l">
              <a:lnSpc>
                <a:spcPts val="2587"/>
              </a:lnSpc>
              <a:spcBef>
                <a:spcPct val="0"/>
              </a:spcBef>
            </a:pPr>
            <a:r>
              <a:rPr lang="en-US" sz="1848">
                <a:solidFill>
                  <a:srgbClr val="FFFFFF"/>
                </a:solidFill>
                <a:latin typeface="Poppins"/>
                <a:ea typeface="Poppins"/>
                <a:cs typeface="Poppins"/>
                <a:sym typeface="Poppins"/>
              </a:rPr>
              <a:t>The phrase “grapes of wrath” comes from the Bible (Book of Revelation) and means punishment for evil.</a:t>
            </a:r>
          </a:p>
        </p:txBody>
      </p:sp>
      <p:sp>
        <p:nvSpPr>
          <p:cNvPr name="TextBox 16" id="16"/>
          <p:cNvSpPr txBox="true"/>
          <p:nvPr/>
        </p:nvSpPr>
        <p:spPr>
          <a:xfrm rot="0">
            <a:off x="1028700" y="6714947"/>
            <a:ext cx="5041061" cy="1601846"/>
          </a:xfrm>
          <a:prstGeom prst="rect">
            <a:avLst/>
          </a:prstGeom>
        </p:spPr>
        <p:txBody>
          <a:bodyPr anchor="t" rtlCol="false" tIns="0" lIns="0" bIns="0" rIns="0">
            <a:spAutoFit/>
          </a:bodyPr>
          <a:lstStyle/>
          <a:p>
            <a:pPr algn="l">
              <a:lnSpc>
                <a:spcPts val="2587"/>
              </a:lnSpc>
            </a:pPr>
            <a:r>
              <a:rPr lang="en-US" sz="1848">
                <a:solidFill>
                  <a:srgbClr val="FFFFFF"/>
                </a:solidFill>
                <a:latin typeface="Poppins"/>
                <a:ea typeface="Poppins"/>
                <a:cs typeface="Poppins"/>
                <a:sym typeface="Poppins"/>
              </a:rPr>
              <a:t>The story is inspired by real people and true events.</a:t>
            </a:r>
          </a:p>
          <a:p>
            <a:pPr algn="l">
              <a:lnSpc>
                <a:spcPts val="2587"/>
              </a:lnSpc>
              <a:spcBef>
                <a:spcPct val="0"/>
              </a:spcBef>
            </a:pPr>
            <a:r>
              <a:rPr lang="en-US" sz="1848">
                <a:solidFill>
                  <a:srgbClr val="FFFFFF"/>
                </a:solidFill>
                <a:latin typeface="Poppins"/>
                <a:ea typeface="Poppins"/>
                <a:cs typeface="Poppins"/>
                <a:sym typeface="Poppins"/>
              </a:rPr>
              <a:t> Many families really lost their farms in the 1930s and moved to California, just like the Joad family.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11" r="0" b="-1611"/>
            </a:stretch>
          </a:blipFill>
        </p:spPr>
      </p:sp>
      <p:grpSp>
        <p:nvGrpSpPr>
          <p:cNvPr name="Group 3" id="3"/>
          <p:cNvGrpSpPr/>
          <p:nvPr/>
        </p:nvGrpSpPr>
        <p:grpSpPr>
          <a:xfrm rot="0">
            <a:off x="11941241" y="-745472"/>
            <a:ext cx="8121418" cy="1490944"/>
            <a:chOff x="0" y="0"/>
            <a:chExt cx="2138974" cy="392677"/>
          </a:xfrm>
        </p:grpSpPr>
        <p:sp>
          <p:nvSpPr>
            <p:cNvPr name="Freeform 4" id="4"/>
            <p:cNvSpPr/>
            <p:nvPr/>
          </p:nvSpPr>
          <p:spPr>
            <a:xfrm flipH="false" flipV="false" rot="0">
              <a:off x="0" y="0"/>
              <a:ext cx="2138974" cy="392677"/>
            </a:xfrm>
            <a:custGeom>
              <a:avLst/>
              <a:gdLst/>
              <a:ahLst/>
              <a:cxnLst/>
              <a:rect r="r" b="b" t="t" l="l"/>
              <a:pathLst>
                <a:path h="392677" w="2138974">
                  <a:moveTo>
                    <a:pt x="48617" y="0"/>
                  </a:moveTo>
                  <a:lnTo>
                    <a:pt x="2090357" y="0"/>
                  </a:lnTo>
                  <a:cubicBezTo>
                    <a:pt x="2103251" y="0"/>
                    <a:pt x="2115617" y="5122"/>
                    <a:pt x="2124735" y="14240"/>
                  </a:cubicBezTo>
                  <a:cubicBezTo>
                    <a:pt x="2133852" y="23357"/>
                    <a:pt x="2138974" y="35723"/>
                    <a:pt x="2138974" y="48617"/>
                  </a:cubicBezTo>
                  <a:lnTo>
                    <a:pt x="2138974" y="344060"/>
                  </a:lnTo>
                  <a:cubicBezTo>
                    <a:pt x="2138974" y="356954"/>
                    <a:pt x="2133852" y="369320"/>
                    <a:pt x="2124735" y="378437"/>
                  </a:cubicBezTo>
                  <a:cubicBezTo>
                    <a:pt x="2115617" y="387555"/>
                    <a:pt x="2103251" y="392677"/>
                    <a:pt x="2090357" y="392677"/>
                  </a:cubicBezTo>
                  <a:lnTo>
                    <a:pt x="48617" y="392677"/>
                  </a:lnTo>
                  <a:cubicBezTo>
                    <a:pt x="21767" y="392677"/>
                    <a:pt x="0" y="370910"/>
                    <a:pt x="0" y="344060"/>
                  </a:cubicBezTo>
                  <a:lnTo>
                    <a:pt x="0" y="48617"/>
                  </a:lnTo>
                  <a:cubicBezTo>
                    <a:pt x="0" y="35723"/>
                    <a:pt x="5122" y="23357"/>
                    <a:pt x="14240" y="14240"/>
                  </a:cubicBezTo>
                  <a:cubicBezTo>
                    <a:pt x="23357" y="5122"/>
                    <a:pt x="35723" y="0"/>
                    <a:pt x="48617" y="0"/>
                  </a:cubicBezTo>
                  <a:close/>
                </a:path>
              </a:pathLst>
            </a:custGeom>
            <a:gradFill rotWithShape="true">
              <a:gsLst>
                <a:gs pos="0">
                  <a:srgbClr val="000000">
                    <a:alpha val="100000"/>
                  </a:srgbClr>
                </a:gs>
                <a:gs pos="100000">
                  <a:srgbClr val="737373">
                    <a:alpha val="100000"/>
                  </a:srgbClr>
                </a:gs>
              </a:gsLst>
              <a:lin ang="0"/>
            </a:gradFill>
          </p:spPr>
        </p:sp>
        <p:sp>
          <p:nvSpPr>
            <p:cNvPr name="TextBox 5" id="5"/>
            <p:cNvSpPr txBox="true"/>
            <p:nvPr/>
          </p:nvSpPr>
          <p:spPr>
            <a:xfrm>
              <a:off x="0" y="-47625"/>
              <a:ext cx="2138974" cy="44030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429565" y="9541528"/>
            <a:ext cx="8620314" cy="1490944"/>
            <a:chOff x="0" y="0"/>
            <a:chExt cx="2270371" cy="392677"/>
          </a:xfrm>
        </p:grpSpPr>
        <p:sp>
          <p:nvSpPr>
            <p:cNvPr name="Freeform 7" id="7"/>
            <p:cNvSpPr/>
            <p:nvPr/>
          </p:nvSpPr>
          <p:spPr>
            <a:xfrm flipH="false" flipV="false" rot="0">
              <a:off x="0" y="0"/>
              <a:ext cx="2270371" cy="392677"/>
            </a:xfrm>
            <a:custGeom>
              <a:avLst/>
              <a:gdLst/>
              <a:ahLst/>
              <a:cxnLst/>
              <a:rect r="r" b="b" t="t" l="l"/>
              <a:pathLst>
                <a:path h="392677" w="2270371">
                  <a:moveTo>
                    <a:pt x="45803" y="0"/>
                  </a:moveTo>
                  <a:lnTo>
                    <a:pt x="2224568" y="0"/>
                  </a:lnTo>
                  <a:cubicBezTo>
                    <a:pt x="2236715" y="0"/>
                    <a:pt x="2248365" y="4826"/>
                    <a:pt x="2256955" y="13415"/>
                  </a:cubicBezTo>
                  <a:cubicBezTo>
                    <a:pt x="2265545" y="22005"/>
                    <a:pt x="2270371" y="33655"/>
                    <a:pt x="2270371" y="45803"/>
                  </a:cubicBezTo>
                  <a:lnTo>
                    <a:pt x="2270371" y="346873"/>
                  </a:lnTo>
                  <a:cubicBezTo>
                    <a:pt x="2270371" y="359021"/>
                    <a:pt x="2265545" y="370671"/>
                    <a:pt x="2256955" y="379261"/>
                  </a:cubicBezTo>
                  <a:cubicBezTo>
                    <a:pt x="2248365" y="387851"/>
                    <a:pt x="2236715" y="392677"/>
                    <a:pt x="2224568" y="392677"/>
                  </a:cubicBezTo>
                  <a:lnTo>
                    <a:pt x="45803" y="392677"/>
                  </a:lnTo>
                  <a:cubicBezTo>
                    <a:pt x="33655" y="392677"/>
                    <a:pt x="22005" y="387851"/>
                    <a:pt x="13415" y="379261"/>
                  </a:cubicBezTo>
                  <a:cubicBezTo>
                    <a:pt x="4826" y="370671"/>
                    <a:pt x="0" y="359021"/>
                    <a:pt x="0" y="346873"/>
                  </a:cubicBezTo>
                  <a:lnTo>
                    <a:pt x="0" y="45803"/>
                  </a:lnTo>
                  <a:cubicBezTo>
                    <a:pt x="0" y="33655"/>
                    <a:pt x="4826" y="22005"/>
                    <a:pt x="13415" y="13415"/>
                  </a:cubicBezTo>
                  <a:cubicBezTo>
                    <a:pt x="22005" y="4826"/>
                    <a:pt x="33655" y="0"/>
                    <a:pt x="45803" y="0"/>
                  </a:cubicBezTo>
                  <a:close/>
                </a:path>
              </a:pathLst>
            </a:custGeom>
            <a:gradFill rotWithShape="true">
              <a:gsLst>
                <a:gs pos="0">
                  <a:srgbClr val="000000">
                    <a:alpha val="100000"/>
                  </a:srgbClr>
                </a:gs>
                <a:gs pos="100000">
                  <a:srgbClr val="737373">
                    <a:alpha val="100000"/>
                  </a:srgbClr>
                </a:gs>
              </a:gsLst>
              <a:lin ang="0"/>
            </a:gradFill>
          </p:spPr>
        </p:sp>
        <p:sp>
          <p:nvSpPr>
            <p:cNvPr name="TextBox 8" id="8"/>
            <p:cNvSpPr txBox="true"/>
            <p:nvPr/>
          </p:nvSpPr>
          <p:spPr>
            <a:xfrm>
              <a:off x="0" y="-47625"/>
              <a:ext cx="2270371" cy="44030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3493371" y="1965021"/>
            <a:ext cx="11301259" cy="6356958"/>
          </a:xfrm>
          <a:custGeom>
            <a:avLst/>
            <a:gdLst/>
            <a:ahLst/>
            <a:cxnLst/>
            <a:rect r="r" b="b" t="t" l="l"/>
            <a:pathLst>
              <a:path h="6356958" w="11301259">
                <a:moveTo>
                  <a:pt x="0" y="0"/>
                </a:moveTo>
                <a:lnTo>
                  <a:pt x="11301258" y="0"/>
                </a:lnTo>
                <a:lnTo>
                  <a:pt x="11301258" y="6356958"/>
                </a:lnTo>
                <a:lnTo>
                  <a:pt x="0" y="6356958"/>
                </a:lnTo>
                <a:lnTo>
                  <a:pt x="0" y="0"/>
                </a:lnTo>
                <a:close/>
              </a:path>
            </a:pathLst>
          </a:custGeom>
          <a:blipFill>
            <a:blip r:embed="rId3"/>
            <a:stretch>
              <a:fillRect l="0" t="0" r="0" b="0"/>
            </a:stretch>
          </a:blipFill>
        </p:spPr>
      </p:sp>
      <p:sp>
        <p:nvSpPr>
          <p:cNvPr name="TextBox 10" id="10"/>
          <p:cNvSpPr txBox="true"/>
          <p:nvPr/>
        </p:nvSpPr>
        <p:spPr>
          <a:xfrm rot="0">
            <a:off x="4871341" y="6737633"/>
            <a:ext cx="8545319" cy="1161616"/>
          </a:xfrm>
          <a:prstGeom prst="rect">
            <a:avLst/>
          </a:prstGeom>
        </p:spPr>
        <p:txBody>
          <a:bodyPr anchor="t" rtlCol="false" tIns="0" lIns="0" bIns="0" rIns="0">
            <a:spAutoFit/>
          </a:bodyPr>
          <a:lstStyle/>
          <a:p>
            <a:pPr algn="ctr">
              <a:lnSpc>
                <a:spcPts val="9473"/>
              </a:lnSpc>
              <a:spcBef>
                <a:spcPct val="0"/>
              </a:spcBef>
            </a:pPr>
            <a:r>
              <a:rPr lang="en-US" sz="6767">
                <a:solidFill>
                  <a:srgbClr val="FFDE59"/>
                </a:solidFill>
                <a:latin typeface="League Spartan"/>
                <a:ea typeface="League Spartan"/>
                <a:cs typeface="League Spartan"/>
                <a:sym typeface="League Spart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DAGocfkmMu8</dc:identifier>
  <dcterms:modified xsi:type="dcterms:W3CDTF">2011-08-01T06:04:30Z</dcterms:modified>
  <cp:revision>1</cp:revision>
  <dc:title>John Steinbeck</dc:title>
</cp:coreProperties>
</file>